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" y="1691640"/>
            <a:ext cx="109179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8FAFC"/>
                </a:solidFill>
                <a:latin typeface="Merriweather"/>
                <a:ea typeface="Merriweather"/>
                <a:cs typeface="Merriweather"/>
              </a:rPr>
              <a:t>Tối Ưu Hóa Cold-Start AI Serverless
bằng Weight-Sharing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154680"/>
            <a:ext cx="1040587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8FAFC"/>
                </a:solidFill>
                <a:latin typeface="DM Sans Medium"/>
                <a:ea typeface="DM Sans Medium"/>
                <a:cs typeface="DM Sans Medium"/>
              </a:rPr>
              <a:t>Báo Cáo Đồ Án — Hệ Tính Toán Phân Bố Nâng Cao (NT2204.CH201)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4069080"/>
            <a:ext cx="10405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Sinh viên thực hiện: Ngô Quang Huy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480560"/>
            <a:ext cx="10405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Giảng viên hướng dẫn: TS. Huỳnh Văn Đặng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331720"/>
            <a:ext cx="9418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1E3A8A"/>
                </a:solidFill>
                <a:latin typeface="Merriweather"/>
                <a:ea typeface="Merriweather"/>
                <a:cs typeface="Merriweather"/>
              </a:rPr>
              <a:t>01. Nội Dung Trình Bày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23560" y="3246120"/>
            <a:ext cx="950976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6576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Bối cảnh · Mục tiêu · Công nghệ · Kiến trúc · Hiện thực · Thử nghiệm · Kết quả · Kết luận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66928"/>
            <a:ext cx="73152" cy="521207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56692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0F172A"/>
                </a:solidFill>
                <a:latin typeface="Merriweather"/>
                <a:ea typeface="Merriweather"/>
                <a:cs typeface="Merriweather"/>
              </a:rPr>
              <a:t>Nội Dung Trình Bày</a:t>
            </a:r>
          </a:p>
        </p:txBody>
      </p:sp>
      <p:pic>
        <p:nvPicPr>
          <p:cNvPr id="5" name="Picture 4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62456"/>
            <a:ext cx="228600" cy="2468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0976" y="1325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01 — Bối cảnh &amp; vấn đề cold-start trong Serverless AI</a:t>
            </a:r>
          </a:p>
        </p:txBody>
      </p:sp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92807"/>
            <a:ext cx="228600" cy="2468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0976" y="1856231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02 — Mục tiêu đề tài và quy trình 4 giai đoạn</a:t>
            </a:r>
          </a:p>
        </p:txBody>
      </p:sp>
      <p:pic>
        <p:nvPicPr>
          <p:cNvPr id="9" name="Picture 8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423160"/>
            <a:ext cx="228600" cy="246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0976" y="238658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03 — Công nghệ &amp; phương pháp Weight-Sharing (tmpfs)</a:t>
            </a:r>
          </a:p>
        </p:txBody>
      </p:sp>
      <p:pic>
        <p:nvPicPr>
          <p:cNvPr id="11" name="Picture 10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953512"/>
            <a:ext cx="228600" cy="246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0976" y="291693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04 — Kiến trúc hệ thống trên Minikube + Knative</a:t>
            </a:r>
          </a:p>
        </p:txBody>
      </p:sp>
      <p:pic>
        <p:nvPicPr>
          <p:cNvPr id="13" name="Picture 1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483864"/>
            <a:ext cx="228600" cy="2468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0976" y="34472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05 — Hiện thực hóa: FastAPI, YOLO-World, YAML</a:t>
            </a:r>
          </a:p>
        </p:txBody>
      </p:sp>
      <p:pic>
        <p:nvPicPr>
          <p:cNvPr id="15" name="Picture 14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014215"/>
            <a:ext cx="228600" cy="2468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0976" y="397763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06 — Kịch bản thử nghiệm với k6 &amp; Prometheus</a:t>
            </a:r>
          </a:p>
        </p:txBody>
      </p:sp>
      <p:pic>
        <p:nvPicPr>
          <p:cNvPr id="17" name="Picture 1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544568"/>
            <a:ext cx="228600" cy="2468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0976" y="45079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07 — Kết quả định lượng và phân tích</a:t>
            </a:r>
          </a:p>
        </p:txBody>
      </p:sp>
      <p:pic>
        <p:nvPicPr>
          <p:cNvPr id="19" name="Picture 18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074920"/>
            <a:ext cx="228600" cy="2468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0976" y="503834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08 — Kết luận, hạn chế và hướng phát triển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331720"/>
            <a:ext cx="9418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1E3A8A"/>
                </a:solidFill>
                <a:latin typeface="Merriweather"/>
                <a:ea typeface="Merriweather"/>
                <a:cs typeface="Merriweather"/>
              </a:rPr>
              <a:t>02. Bối Cảnh &amp; Vấn Đề</a:t>
            </a:r>
          </a:p>
        </p:txBody>
      </p:sp>
      <p:sp>
        <p:nvSpPr>
          <p:cNvPr id="4" name="Rectangle 3"/>
          <p:cNvSpPr/>
          <p:nvPr/>
        </p:nvSpPr>
        <p:spPr>
          <a:xfrm>
            <a:off x="5623560" y="3246120"/>
            <a:ext cx="950976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6576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AI + Serverless gặp rào cản cold-start khi nạp weights mô hình lớn.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66928"/>
            <a:ext cx="73152" cy="521207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56692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0F172A"/>
                </a:solidFill>
                <a:latin typeface="Merriweather"/>
                <a:ea typeface="Merriweather"/>
                <a:cs typeface="Merriweather"/>
              </a:rPr>
              <a:t>Bối Cảnh Đề Tài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erriweather"/>
                <a:ea typeface="Merriweather"/>
                <a:cs typeface="Merriweather"/>
              </a:rPr>
              <a:t>Serverless AI &amp; Cold-start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Deep Learning đòi hỏi hạ tầng linh hoạt, trong khi Serverless tối ưu chi phí qua scale-to-zero. Sự kết hợp này tạo ra nút thắt I/O khi khởi tạo container.</a:t>
            </a:r>
          </a:p>
        </p:txBody>
      </p:sp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834640"/>
            <a:ext cx="228600" cy="2468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0976" y="2816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Mô hình weights lớn (YOLO-World ~90MB) nạp chậm từ đĩa.</a:t>
            </a:r>
          </a:p>
        </p:txBody>
      </p:sp>
      <p:pic>
        <p:nvPicPr>
          <p:cNvPr id="9" name="Picture 8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337560"/>
            <a:ext cx="228600" cy="246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0976" y="33192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Mỗi lần scale-from-zero phát sinh cold-start đột biến.</a:t>
            </a:r>
          </a:p>
        </p:txBody>
      </p:sp>
      <p:pic>
        <p:nvPicPr>
          <p:cNvPr id="11" name="Picture 10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840480"/>
            <a:ext cx="228600" cy="246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0976" y="382219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P99 latency suy giảm nghiêm trọng trải nghiệm thời gian thực.</a:t>
            </a:r>
          </a:p>
        </p:txBody>
      </p:sp>
      <p:pic>
        <p:nvPicPr>
          <p:cNvPr id="13" name="Picture 1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343400"/>
            <a:ext cx="228600" cy="2468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0976" y="432511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Cần tái thiết kế lớp lưu trữ dùng chung trên cùng node.</a:t>
            </a:r>
          </a:p>
        </p:txBody>
      </p:sp>
      <p:pic>
        <p:nvPicPr>
          <p:cNvPr id="15" name="Picture 14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280160"/>
            <a:ext cx="56692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66928"/>
            <a:ext cx="73152" cy="521207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56692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0F172A"/>
                </a:solidFill>
                <a:latin typeface="Merriweather"/>
                <a:ea typeface="Merriweather"/>
                <a:cs typeface="Merriweather"/>
              </a:rPr>
              <a:t>Vấn Đề Cần Giải Quyết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25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Đồ án tập trung vào tối ưu quá trình nạp trọng số mô hình — yếu tố then chốt của cold-start AI.</a:t>
            </a:r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093976"/>
            <a:ext cx="228600" cy="246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0976" y="20574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Mỗi Pod mới phải đọc weights từ lưu trữ bền vững trên node → I/O đĩa là nút thắt.</a:t>
            </a:r>
          </a:p>
        </p:txBody>
      </p:sp>
      <p:pic>
        <p:nvPicPr>
          <p:cNvPr id="8" name="Picture 7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624328"/>
            <a:ext cx="228600" cy="246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0976" y="258775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Câu hỏi nghiên cứu: Giảm chi phí nạp weights mà vẫn giữ kiến trúc Serverless?</a:t>
            </a:r>
          </a:p>
        </p:txBody>
      </p:sp>
      <p:pic>
        <p:nvPicPr>
          <p:cNvPr id="10" name="Picture 9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54680"/>
            <a:ext cx="228600" cy="246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0976" y="311810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Hướng tiếp cận: Weight-Sharing qua phân vùng tmpfs trên RAM (hostPath).</a:t>
            </a:r>
          </a:p>
        </p:txBody>
      </p:sp>
      <p:pic>
        <p:nvPicPr>
          <p:cNvPr id="12" name="Picture 11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685032"/>
            <a:ext cx="228600" cy="246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0976" y="364845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Đối chứng với Baseline đọc từ đĩa ảo trên cùng node Minikube.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331720"/>
            <a:ext cx="9418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1E3A8A"/>
                </a:solidFill>
                <a:latin typeface="Merriweather"/>
                <a:ea typeface="Merriweather"/>
                <a:cs typeface="Merriweather"/>
              </a:rPr>
              <a:t>03. Mục Tiêu Đề Tài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23560" y="3246120"/>
            <a:ext cx="950976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6576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Giảm đáng kể độ trễ cold-start khi nạp weights mô hình AI trên Serverless.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66928"/>
            <a:ext cx="73152" cy="521207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56692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0F172A"/>
                </a:solidFill>
                <a:latin typeface="Merriweather"/>
                <a:ea typeface="Merriweather"/>
                <a:cs typeface="Merriweather"/>
              </a:rPr>
              <a:t>Mục Tiêu Cụ Thể</a:t>
            </a:r>
          </a:p>
        </p:txBody>
      </p:sp>
      <p:pic>
        <p:nvPicPr>
          <p:cNvPr id="5" name="Picture 4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54480"/>
            <a:ext cx="3493008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" y="2331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erriweather"/>
                <a:ea typeface="Merriweather"/>
                <a:cs typeface="Merriweather"/>
              </a:rPr>
              <a:t>Hạ tầng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Thiết lập Minikube + Knative Serving với autoscaling và scale-to-zero tiêu chuẩn.</a:t>
            </a:r>
          </a:p>
        </p:txBody>
      </p:sp>
      <p:pic>
        <p:nvPicPr>
          <p:cNvPr id="8" name="Picture 7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554480"/>
            <a:ext cx="3493008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45152" y="2331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erriweather"/>
                <a:ea typeface="Merriweather"/>
                <a:cs typeface="Merriweather"/>
              </a:rPr>
              <a:t>Weight-Sharing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Dùng tmpfs 4GB trên RAM làm vùng lưu trữ dùng chung giữa các Pod qua hostPath.</a:t>
            </a:r>
          </a:p>
        </p:txBody>
      </p:sp>
      <p:pic>
        <p:nvPicPr>
          <p:cNvPr id="11" name="Picture 10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016" y="1554480"/>
            <a:ext cx="3493008" cy="4206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21624" y="2331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erriweather"/>
                <a:ea typeface="Merriweather"/>
                <a:cs typeface="Merriweather"/>
              </a:rPr>
              <a:t>Đo lường đối chứng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1624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k6 + Prometheus/Grafana: so sánh RAM vs Disk theo P99, Burst và Warm.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66928"/>
            <a:ext cx="73152" cy="521207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56692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0F172A"/>
                </a:solidFill>
                <a:latin typeface="Merriweather"/>
                <a:ea typeface="Merriweather"/>
                <a:cs typeface="Merriweather"/>
              </a:rPr>
              <a:t>Quy Trình Thực Hiện (4 Giai Đoạn)</a:t>
            </a:r>
          </a:p>
        </p:txBody>
      </p:sp>
      <p:pic>
        <p:nvPicPr>
          <p:cNvPr id="5" name="Picture 4" descr="00-quy-trinh-4-giai-do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34440"/>
            <a:ext cx="11045952" cy="3813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989320"/>
            <a:ext cx="11045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DM Sans"/>
                <a:ea typeface="DM Sans"/>
                <a:cs typeface="DM Sans"/>
              </a:rPr>
              <a:t>Hạ tầng → Weight-Sharing → Load test → Tổng hợp &amp; đánh giá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331720"/>
            <a:ext cx="9418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1E3A8A"/>
                </a:solidFill>
                <a:latin typeface="Merriweather"/>
                <a:ea typeface="Merriweather"/>
                <a:cs typeface="Merriweather"/>
              </a:rPr>
              <a:t>04. Công Nghệ &amp; Phương Pháp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23560" y="3246120"/>
            <a:ext cx="950976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6576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Kubernetes, Knative, YOLO-World, FastAPI, k6 và Weight-Sharing qua tmpfs.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66928"/>
            <a:ext cx="73152" cy="521207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56692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0F172A"/>
                </a:solidFill>
                <a:latin typeface="Merriweather"/>
                <a:ea typeface="Merriweather"/>
                <a:cs typeface="Merriweather"/>
              </a:rPr>
              <a:t>Stack Công Nghệ</a:t>
            </a:r>
          </a:p>
        </p:txBody>
      </p:sp>
      <p:pic>
        <p:nvPicPr>
          <p:cNvPr id="5" name="Picture 4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5330952" cy="4572000"/>
          </a:xfrm>
          <a:prstGeom prst="rect">
            <a:avLst/>
          </a:prstGeom>
        </p:spPr>
      </p:pic>
      <p:pic>
        <p:nvPicPr>
          <p:cNvPr id="6" name="Picture 5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417320"/>
            <a:ext cx="5330952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0976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  <a:latin typeface="Merriweather"/>
                <a:ea typeface="Merriweather"/>
                <a:cs typeface="Merriweather"/>
              </a:rPr>
              <a:t>Hạ tầng &amp; Điều phối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1031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Nền tảng Serverless trên cụm giả lập single-node.</a:t>
            </a:r>
          </a:p>
        </p:txBody>
      </p:sp>
      <p:pic>
        <p:nvPicPr>
          <p:cNvPr id="9" name="Picture 8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154680"/>
            <a:ext cx="201168" cy="2194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80160" y="31363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Kubernetes (Minikube)</a:t>
            </a:r>
          </a:p>
        </p:txBody>
      </p:sp>
      <p:pic>
        <p:nvPicPr>
          <p:cNvPr id="11" name="Picture 10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593592"/>
            <a:ext cx="201168" cy="2194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80160" y="3575304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Knative Serving (KPA, Activator)</a:t>
            </a:r>
          </a:p>
        </p:txBody>
      </p:sp>
      <p:pic>
        <p:nvPicPr>
          <p:cNvPr id="13" name="Picture 12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032504"/>
            <a:ext cx="201168" cy="2194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80160" y="4014216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Kourier Ingress Gateway</a:t>
            </a:r>
          </a:p>
        </p:txBody>
      </p:sp>
      <p:pic>
        <p:nvPicPr>
          <p:cNvPr id="15" name="Picture 14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471416"/>
            <a:ext cx="201168" cy="2194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80160" y="445312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hostPath volume chia sẻ weights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5976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  <a:latin typeface="Merriweather"/>
                <a:ea typeface="Merriweather"/>
                <a:cs typeface="Merriweather"/>
              </a:rPr>
              <a:t>Ứng dụng &amp; Giám sát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21031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Workload suy diễn và pipeline đo lường end-to-end.</a:t>
            </a:r>
          </a:p>
        </p:txBody>
      </p:sp>
      <p:pic>
        <p:nvPicPr>
          <p:cNvPr id="19" name="Picture 18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3154680"/>
            <a:ext cx="201168" cy="2194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95160" y="31363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YOLO-World (Ultralytics)</a:t>
            </a:r>
          </a:p>
        </p:txBody>
      </p:sp>
      <p:pic>
        <p:nvPicPr>
          <p:cNvPr id="21" name="Picture 20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3593592"/>
            <a:ext cx="201168" cy="21945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95160" y="3575304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FastAPI + Uvicorn + Prometheus</a:t>
            </a:r>
          </a:p>
        </p:txBody>
      </p:sp>
      <p:pic>
        <p:nvPicPr>
          <p:cNvPr id="23" name="Picture 22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4032504"/>
            <a:ext cx="201168" cy="21945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95160" y="4014216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Grafana dashboard đối chiếu</a:t>
            </a:r>
          </a:p>
        </p:txBody>
      </p:sp>
      <p:pic>
        <p:nvPicPr>
          <p:cNvPr id="25" name="Picture 24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4471416"/>
            <a:ext cx="201168" cy="2194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95160" y="445312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k6 load test (cold / burst / cycle)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66928"/>
            <a:ext cx="73152" cy="521207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56692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0F172A"/>
                </a:solidFill>
                <a:latin typeface="Merriweather"/>
                <a:ea typeface="Merriweather"/>
                <a:cs typeface="Merriweather"/>
              </a:rPr>
              <a:t>Phương Pháp Weight-Sharing</a:t>
            </a:r>
          </a:p>
        </p:txBody>
      </p:sp>
      <p:pic>
        <p:nvPicPr>
          <p:cNvPr id="5" name="Picture 4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5330952" cy="4572000"/>
          </a:xfrm>
          <a:prstGeom prst="rect">
            <a:avLst/>
          </a:prstGeom>
        </p:spPr>
      </p:pic>
      <p:pic>
        <p:nvPicPr>
          <p:cNvPr id="6" name="Picture 5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417320"/>
            <a:ext cx="5330952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0976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  <a:latin typeface="Merriweather"/>
                <a:ea typeface="Merriweather"/>
                <a:cs typeface="Merriweather"/>
              </a:rPr>
              <a:t>Optimized — RAM tmpfs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1031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Một bản sao weights trên RAM; các Pod đọc chung qua hostPath.</a:t>
            </a:r>
          </a:p>
        </p:txBody>
      </p:sp>
      <p:pic>
        <p:nvPicPr>
          <p:cNvPr id="9" name="Picture 8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154680"/>
            <a:ext cx="201168" cy="2194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80160" y="31363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tmpfs 4GB tại /mnt/shared-weights</a:t>
            </a:r>
          </a:p>
        </p:txBody>
      </p:sp>
      <p:pic>
        <p:nvPicPr>
          <p:cNvPr id="11" name="Picture 10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593592"/>
            <a:ext cx="201168" cy="2194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80160" y="3575304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File yolov8l-world.pt trên RAM</a:t>
            </a:r>
          </a:p>
        </p:txBody>
      </p:sp>
      <p:pic>
        <p:nvPicPr>
          <p:cNvPr id="13" name="Picture 12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032504"/>
            <a:ext cx="201168" cy="2194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80160" y="4014216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Giảm I/O đĩa khi cold-start</a:t>
            </a:r>
          </a:p>
        </p:txBody>
      </p:sp>
      <p:pic>
        <p:nvPicPr>
          <p:cNvPr id="15" name="Picture 14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471416"/>
            <a:ext cx="201168" cy="2194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80160" y="445312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P99 cold TB ≈ 17.35s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5976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  <a:latin typeface="Merriweather"/>
                <a:ea typeface="Merriweather"/>
                <a:cs typeface="Merriweather"/>
              </a:rPr>
              <a:t>Baseline — Disk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21031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Cùng file weights nhưng đọc từ đĩa ảo node — nhóm đối chứng.</a:t>
            </a:r>
          </a:p>
        </p:txBody>
      </p:sp>
      <p:pic>
        <p:nvPicPr>
          <p:cNvPr id="19" name="Picture 18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3154680"/>
            <a:ext cx="201168" cy="2194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95160" y="31363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Đĩa tại /mnt/disk-weights</a:t>
            </a:r>
          </a:p>
        </p:txBody>
      </p:sp>
      <p:pic>
        <p:nvPicPr>
          <p:cNvPr id="21" name="Picture 20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3593592"/>
            <a:ext cx="201168" cy="21945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95160" y="3575304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Mỗi cold-start đọc từ đĩa</a:t>
            </a:r>
          </a:p>
        </p:txBody>
      </p:sp>
      <p:pic>
        <p:nvPicPr>
          <p:cNvPr id="23" name="Picture 22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4032504"/>
            <a:ext cx="201168" cy="21945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95160" y="4014216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Nút thắt I/O rõ rệt</a:t>
            </a:r>
          </a:p>
        </p:txBody>
      </p:sp>
      <p:pic>
        <p:nvPicPr>
          <p:cNvPr id="25" name="Picture 24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4471416"/>
            <a:ext cx="201168" cy="2194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95160" y="445312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P99 cold TB ≈ 75.00s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66928"/>
            <a:ext cx="73152" cy="521207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56692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0F172A"/>
                </a:solidFill>
                <a:latin typeface="Merriweather"/>
                <a:ea typeface="Merriweather"/>
                <a:cs typeface="Merriweather"/>
              </a:rPr>
              <a:t>Weight-Sharing: tmpfs (RAM) vs Disk</a:t>
            </a:r>
          </a:p>
        </p:txBody>
      </p:sp>
      <p:pic>
        <p:nvPicPr>
          <p:cNvPr id="5" name="Picture 4" descr="02-weight-sharing-tmpfs-vs-d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2779" y="1234440"/>
            <a:ext cx="8226136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989320"/>
            <a:ext cx="11045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DM Sans"/>
                <a:ea typeface="DM Sans"/>
                <a:cs typeface="DM Sans"/>
              </a:rPr>
              <a:t>Các Pod trên cùng node chia sẻ một bản sao weights qua hostPath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331720"/>
            <a:ext cx="9418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1E3A8A"/>
                </a:solidFill>
                <a:latin typeface="Merriweather"/>
                <a:ea typeface="Merriweather"/>
                <a:cs typeface="Merriweather"/>
              </a:rPr>
              <a:t>05. Kiến Trúc Hệ Thống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23560" y="3246120"/>
            <a:ext cx="950976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6576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Pipeline suy diễn AI Serverless trên Minikube với lớp lưu trữ dùng chung.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66928"/>
            <a:ext cx="73152" cy="521207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56692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0F172A"/>
                </a:solidFill>
                <a:latin typeface="Merriweather"/>
                <a:ea typeface="Merriweather"/>
                <a:cs typeface="Merriweather"/>
              </a:rPr>
              <a:t>Kiến Trúc Tổng Thể</a:t>
            </a:r>
          </a:p>
        </p:txBody>
      </p:sp>
      <p:pic>
        <p:nvPicPr>
          <p:cNvPr id="5" name="Picture 4" descr="01-kien-truc-pipeline-tong-th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788" y="1234440"/>
            <a:ext cx="7470119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989320"/>
            <a:ext cx="11045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DM Sans"/>
                <a:ea typeface="DM Sans"/>
                <a:cs typeface="DM Sans"/>
              </a:rPr>
              <a:t>k6 → Kourier → Knative Serving → Pod FastAPI/YOLO · Prometheus/Grafana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66928"/>
            <a:ext cx="73152" cy="521207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56692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0F172A"/>
                </a:solidFill>
                <a:latin typeface="Merriweather"/>
                <a:ea typeface="Merriweather"/>
                <a:cs typeface="Merriweather"/>
              </a:rPr>
              <a:t>Các Thành Phần Chính</a:t>
            </a:r>
          </a:p>
        </p:txBody>
      </p:sp>
      <p:pic>
        <p:nvPicPr>
          <p:cNvPr id="5" name="Picture 4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62456"/>
            <a:ext cx="228600" cy="2468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0976" y="1325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k6 — gửi POST /predict, đo end-to-end latency từ góc nhìn người dùng.</a:t>
            </a:r>
          </a:p>
        </p:txBody>
      </p:sp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92807"/>
            <a:ext cx="228600" cy="2468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0976" y="1856231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Kourier — Ingress Gateway, định tuyến qua tên miền ảo *.sslip.io.</a:t>
            </a:r>
          </a:p>
        </p:txBody>
      </p:sp>
      <p:pic>
        <p:nvPicPr>
          <p:cNvPr id="9" name="Picture 8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423160"/>
            <a:ext cx="228600" cy="246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0976" y="238658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Knative — Autoscaler (KPA), Activator (scale-from-zero), Queue-Proxy.</a:t>
            </a:r>
          </a:p>
        </p:txBody>
      </p:sp>
      <p:pic>
        <p:nvPicPr>
          <p:cNvPr id="11" name="Picture 10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953512"/>
            <a:ext cx="228600" cy="246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0976" y="291693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Pod suy diễn — FastAPI + YOLO-World; nạp model tại module startup.</a:t>
            </a:r>
          </a:p>
        </p:txBody>
      </p:sp>
      <p:pic>
        <p:nvPicPr>
          <p:cNvPr id="13" name="Picture 1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483864"/>
            <a:ext cx="228600" cy="2468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0976" y="34472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Lớp lưu trữ — hostPath liên kết tmpfs (Optimized) hoặc disk (Baseline).</a:t>
            </a:r>
          </a:p>
        </p:txBody>
      </p:sp>
      <p:pic>
        <p:nvPicPr>
          <p:cNvPr id="15" name="Picture 14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014215"/>
            <a:ext cx="228600" cy="2468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0976" y="397763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Giám sát — Prometheus scrape /metrics; Grafana dashboard đối chiếu.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331720"/>
            <a:ext cx="9418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1E3A8A"/>
                </a:solidFill>
                <a:latin typeface="Merriweather"/>
                <a:ea typeface="Merriweather"/>
                <a:cs typeface="Merriweather"/>
              </a:rPr>
              <a:t>06. Hiện Thực Hóa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23560" y="3246120"/>
            <a:ext cx="950976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6576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Hai dịch vụ Knative đối chứng, API FastAPI và tự động hóa bằng shell scripts.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66928"/>
            <a:ext cx="73152" cy="521207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56692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0F172A"/>
                </a:solidFill>
                <a:latin typeface="Merriweather"/>
                <a:ea typeface="Merriweather"/>
                <a:cs typeface="Merriweather"/>
              </a:rPr>
              <a:t>Cấu Hình Triển Khai</a:t>
            </a:r>
          </a:p>
        </p:txBody>
      </p:sp>
      <p:pic>
        <p:nvPicPr>
          <p:cNvPr id="5" name="Picture 4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62456"/>
            <a:ext cx="228600" cy="2468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0976" y="1325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Hai dịch vụ độc lập: yolo-inference (optimized) và yolo-inference-baseline.</a:t>
            </a:r>
          </a:p>
        </p:txBody>
      </p:sp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92807"/>
            <a:ext cx="228600" cy="2468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0976" y="1856231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Autoscaling: min-scale=0, max-scale=5, target concurrency=1.</a:t>
            </a:r>
          </a:p>
        </p:txBody>
      </p:sp>
      <p:pic>
        <p:nvPicPr>
          <p:cNvPr id="9" name="Picture 8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423160"/>
            <a:ext cx="228600" cy="246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0976" y="238658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imagePullPolicy: Never — dùng image cục bộ, loại trừ biến số mạng.</a:t>
            </a:r>
          </a:p>
        </p:txBody>
      </p:sp>
      <p:pic>
        <p:nvPicPr>
          <p:cNvPr id="11" name="Picture 10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953512"/>
            <a:ext cx="228600" cy="246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0976" y="291693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Prometheus annotations: scrape=true, port=8080, path=/metrics.</a:t>
            </a:r>
          </a:p>
        </p:txBody>
      </p:sp>
      <p:pic>
        <p:nvPicPr>
          <p:cNvPr id="13" name="Picture 1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483864"/>
            <a:ext cx="228600" cy="2468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0976" y="34472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Scripts: setup-weights.sh, deploy-all.sh — đảm bảo tái lập thí nghiệm.</a:t>
            </a:r>
          </a:p>
        </p:txBody>
      </p:sp>
      <p:pic>
        <p:nvPicPr>
          <p:cNvPr id="15" name="Picture 14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014215"/>
            <a:ext cx="228600" cy="2468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0976" y="397763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Model nạp top-level import → chi phí I/O xảy ra trước khi Pod báo Ready.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66928"/>
            <a:ext cx="73152" cy="521207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56692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0F172A"/>
                </a:solidFill>
                <a:latin typeface="Merriweather"/>
                <a:ea typeface="Merriweather"/>
                <a:cs typeface="Merriweather"/>
              </a:rPr>
              <a:t>API Cốt Lõi (FastAPI)</a:t>
            </a:r>
          </a:p>
        </p:txBody>
      </p:sp>
      <p:pic>
        <p:nvPicPr>
          <p:cNvPr id="5" name="Picture 4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62456"/>
            <a:ext cx="228600" cy="2468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0976" y="1325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GET /health — trạng thái dịch vụ và deployment mode.</a:t>
            </a:r>
          </a:p>
        </p:txBody>
      </p:sp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92807"/>
            <a:ext cx="228600" cy="2468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0976" y="1856231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POST /predict — nhận ảnh, chạy YOLO-World, trả JSON detections.</a:t>
            </a:r>
          </a:p>
        </p:txBody>
      </p:sp>
      <p:pic>
        <p:nvPicPr>
          <p:cNvPr id="9" name="Picture 8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423160"/>
            <a:ext cx="228600" cy="246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0976" y="238658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GET /metrics — Prometheus: model load, latency histogram, request count.</a:t>
            </a:r>
          </a:p>
        </p:txBody>
      </p:sp>
      <p:pic>
        <p:nvPicPr>
          <p:cNvPr id="11" name="Picture 10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953512"/>
            <a:ext cx="228600" cy="246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0976" y="291693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Metric chính: yolo_model_load_seconds, yolo_inference_request_duration_seconds.</a:t>
            </a:r>
          </a:p>
        </p:txBody>
      </p:sp>
      <p:pic>
        <p:nvPicPr>
          <p:cNvPr id="13" name="Picture 1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483864"/>
            <a:ext cx="228600" cy="2468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0976" y="34472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Docker image: python:3.10-slim + ultralytics + FastAPI + prometheus-client.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331720"/>
            <a:ext cx="9418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1E3A8A"/>
                </a:solidFill>
                <a:latin typeface="Merriweather"/>
                <a:ea typeface="Merriweather"/>
                <a:cs typeface="Merriweather"/>
              </a:rPr>
              <a:t>07. Kịch Bản Thử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23560" y="3246120"/>
            <a:ext cx="950976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6576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Bốn kịch bản đo lường với chỉ số then chốt là P99 Latency.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66928"/>
            <a:ext cx="73152" cy="521207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56692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0F172A"/>
                </a:solidFill>
                <a:latin typeface="Merriweather"/>
                <a:ea typeface="Merriweather"/>
                <a:cs typeface="Merriweather"/>
              </a:rPr>
              <a:t>Bốn Kịch Bản Đo Lường</a:t>
            </a:r>
          </a:p>
        </p:txBody>
      </p:sp>
      <p:pic>
        <p:nvPicPr>
          <p:cNvPr id="5" name="Picture 4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54480"/>
            <a:ext cx="3493008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" y="2331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erriweather"/>
                <a:ea typeface="Merriweather"/>
                <a:cs typeface="Merriweather"/>
              </a:rPr>
              <a:t>Cold-start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3 VUs đồng thời, scale-to-zero trước mỗi lần chạy, lặp n=3 cho RAM và Disk.</a:t>
            </a:r>
          </a:p>
        </p:txBody>
      </p:sp>
      <p:pic>
        <p:nvPicPr>
          <p:cNvPr id="8" name="Picture 7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554480"/>
            <a:ext cx="3493008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45152" y="2331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erriweather"/>
                <a:ea typeface="Merriweather"/>
                <a:cs typeface="Merriweather"/>
              </a:rPr>
              <a:t>Burst Traffic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Ramp 15s → 15 VUs, giữ 60s, ramp-down 15s. Nghiệm thu: error &lt; 10%, P99 &lt; 60s.</a:t>
            </a:r>
          </a:p>
        </p:txBody>
      </p:sp>
      <p:pic>
        <p:nvPicPr>
          <p:cNvPr id="11" name="Picture 10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016" y="1554480"/>
            <a:ext cx="3493008" cy="4206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21624" y="2331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erriweather"/>
                <a:ea typeface="Merriweather"/>
                <a:cs typeface="Merriweather"/>
              </a:rPr>
              <a:t>Full 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1624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Cold (3 VU) → Burst (15 VU) → Warm (5 VU, 1 phút) + giám sát model load.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331720"/>
            <a:ext cx="9418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1E3A8A"/>
                </a:solidFill>
                <a:latin typeface="Merriweather"/>
                <a:ea typeface="Merriweather"/>
                <a:cs typeface="Merriweather"/>
              </a:rPr>
              <a:t>08. Kết Quả &amp; Phân Tích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23560" y="3246120"/>
            <a:ext cx="950976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6576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Weight-Sharing qua RAM giảm 76.9% P99 cold-start so với Baseline đĩa.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66928"/>
            <a:ext cx="73152" cy="521207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56692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0F172A"/>
                </a:solidFill>
                <a:latin typeface="Merriweather"/>
                <a:ea typeface="Merriweather"/>
                <a:cs typeface="Merriweather"/>
              </a:rPr>
              <a:t>Kết Quả Nổi Bật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06B6D4"/>
                </a:solidFill>
                <a:latin typeface="Merriweather"/>
                <a:ea typeface="Merriweather"/>
                <a:cs typeface="Merriweather"/>
              </a:rPr>
              <a:t>−76.9%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Giảm P99 cold-start trung bình
(75.00s → 17.35s)</a:t>
            </a:r>
          </a:p>
        </p:txBody>
      </p:sp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37360"/>
            <a:ext cx="228600" cy="2468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171907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Optimized (RAM): P99 TB = 17.35s (σ = 1.68s)</a:t>
            </a:r>
          </a:p>
        </p:txBody>
      </p:sp>
      <p:pic>
        <p:nvPicPr>
          <p:cNvPr id="9" name="Picture 8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377439"/>
            <a:ext cx="228600" cy="246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0" y="2359151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Baseline (Disk): P99 TB = 75.00s (σ = 12.78s)</a:t>
            </a:r>
          </a:p>
        </p:txBody>
      </p:sp>
      <p:pic>
        <p:nvPicPr>
          <p:cNvPr id="11" name="Picture 10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017520"/>
            <a:ext cx="228600" cy="246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0" y="299923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Burst: 0% lỗi HTTP · P99 = 46.37s (&lt; 60s)</a:t>
            </a:r>
          </a:p>
        </p:txBody>
      </p:sp>
      <p:pic>
        <p:nvPicPr>
          <p:cNvPr id="13" name="Picture 1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657600"/>
            <a:ext cx="228600" cy="2468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83680" y="363931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Model load từ RAM: 1.38s cho file ~90MB</a:t>
            </a:r>
          </a:p>
        </p:txBody>
      </p:sp>
      <p:pic>
        <p:nvPicPr>
          <p:cNvPr id="15" name="Picture 14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297680"/>
            <a:ext cx="228600" cy="2468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83680" y="427939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Warm phase: P99 = 5.64s khi Pod sẵn sàng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66928"/>
            <a:ext cx="73152" cy="521207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56692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0F172A"/>
                </a:solidFill>
                <a:latin typeface="Merriweather"/>
                <a:ea typeface="Merriweather"/>
                <a:cs typeface="Merriweather"/>
              </a:rPr>
              <a:t>P99 Cold-start (giây) — n=3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17320"/>
          <a:ext cx="1104595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1984"/>
                <a:gridCol w="3681984"/>
                <a:gridCol w="3681984"/>
              </a:tblGrid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Lượt chạy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Optimized (RAM)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Baseline (Disk)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Lần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15.45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60.45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Lần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18.61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80.12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Lần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18.00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84.42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Trung bình</a:t>
                      </a:r>
                    </a:p>
                  </a:txBody>
                  <a:tcPr anchor="ctr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17.35</a:t>
                      </a:r>
                    </a:p>
                  </a:txBody>
                  <a:tcPr anchor="ctr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75.00</a:t>
                      </a:r>
                    </a:p>
                  </a:txBody>
                  <a:tcPr anchor="ctr">
                    <a:solidFill>
                      <a:srgbClr val="ECFE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1947672"/>
            <a:ext cx="1104595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478024"/>
            <a:ext cx="1104595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3008376"/>
            <a:ext cx="1104595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3538728"/>
            <a:ext cx="1104595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251960"/>
            <a:ext cx="11045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DM Sans"/>
                <a:ea typeface="DM Sans"/>
                <a:cs typeface="DM Sans"/>
              </a:rPr>
              <a:t>Độ lệch chuẩn: Optimized 1.68s · Baseline 12.78s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66928"/>
            <a:ext cx="73152" cy="521207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56692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0F172A"/>
                </a:solidFill>
                <a:latin typeface="Merriweather"/>
                <a:ea typeface="Merriweather"/>
                <a:cs typeface="Merriweather"/>
              </a:rPr>
              <a:t>So Sánh P99 Cold-start</a:t>
            </a:r>
          </a:p>
        </p:txBody>
      </p:sp>
      <p:pic>
        <p:nvPicPr>
          <p:cNvPr id="5" name="Picture 4" descr="03-cold-start-p99-so-san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663" y="1234440"/>
            <a:ext cx="8444369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989320"/>
            <a:ext cx="11045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DM Sans"/>
                <a:ea typeface="DM Sans"/>
                <a:cs typeface="DM Sans"/>
              </a:rPr>
              <a:t>Giảm 76.9% P99 trung bình khi dùng Weight-Sharing qua RAM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66928"/>
            <a:ext cx="73152" cy="521207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56692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0F172A"/>
                </a:solidFill>
                <a:latin typeface="Merriweather"/>
                <a:ea typeface="Merriweather"/>
                <a:cs typeface="Merriweather"/>
              </a:rPr>
              <a:t>Đối Chiếu P99 (Dashboard Style)</a:t>
            </a:r>
          </a:p>
        </p:txBody>
      </p:sp>
      <p:pic>
        <p:nvPicPr>
          <p:cNvPr id="5" name="Picture 4" descr="07-grafana-style-p99-doi-chie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731" y="1234440"/>
            <a:ext cx="8040233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989320"/>
            <a:ext cx="11045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DM Sans"/>
                <a:ea typeface="DM Sans"/>
                <a:cs typeface="DM Sans"/>
              </a:rPr>
              <a:t>Optimized 17.35s vs Baseline 75.00s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66928"/>
            <a:ext cx="73152" cy="521207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56692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0F172A"/>
                </a:solidFill>
                <a:latin typeface="Merriweather"/>
                <a:ea typeface="Merriweather"/>
                <a:cs typeface="Merriweather"/>
              </a:rPr>
              <a:t>Burst Traffic — Chỉ Số Hiệu Năng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17320"/>
          <a:ext cx="11045952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2976"/>
                <a:gridCol w="5522976"/>
              </a:tblGrid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Chỉ số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Giá trị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Tổng requests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HTTP Error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0.00%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Avg Latency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19.40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P99 Latency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46.37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Trạng thái</a:t>
                      </a:r>
                    </a:p>
                  </a:txBody>
                  <a:tcPr anchor="ctr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Không tắc nghẽn</a:t>
                      </a:r>
                    </a:p>
                  </a:txBody>
                  <a:tcPr anchor="ctr">
                    <a:solidFill>
                      <a:srgbClr val="ECFE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1947672"/>
            <a:ext cx="1104595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478024"/>
            <a:ext cx="1104595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3008376"/>
            <a:ext cx="1104595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3538728"/>
            <a:ext cx="1104595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069080"/>
            <a:ext cx="1104595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782312"/>
            <a:ext cx="11045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DM Sans"/>
                <a:ea typeface="DM Sans"/>
                <a:cs typeface="DM Sans"/>
              </a:rPr>
              <a:t>Đáp ứng tiêu chí nghiệm thu: error &lt; 10% và P99 &lt; 60s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66928"/>
            <a:ext cx="73152" cy="521207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56692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0F172A"/>
                </a:solidFill>
                <a:latin typeface="Merriweather"/>
                <a:ea typeface="Merriweather"/>
                <a:cs typeface="Merriweather"/>
              </a:rPr>
              <a:t>Phân Vị Độ Trễ Burst Traffic</a:t>
            </a:r>
          </a:p>
        </p:txBody>
      </p:sp>
      <p:pic>
        <p:nvPicPr>
          <p:cNvPr id="5" name="Picture 4" descr="04-burst-latency-phan-v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510" y="1234440"/>
            <a:ext cx="8476675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989320"/>
            <a:ext cx="11045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DM Sans"/>
                <a:ea typeface="DM Sans"/>
                <a:cs typeface="DM Sans"/>
              </a:rPr>
              <a:t>P99 = 46.37s — dưới ngưỡng nghiệm thu 60s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66928"/>
            <a:ext cx="73152" cy="521207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56692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0F172A"/>
                </a:solidFill>
                <a:latin typeface="Merriweather"/>
                <a:ea typeface="Merriweather"/>
                <a:cs typeface="Merriweather"/>
              </a:rPr>
              <a:t>Chu Kỳ Cold → Burst → Warm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17320"/>
          <a:ext cx="11045952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1488"/>
                <a:gridCol w="2761488"/>
                <a:gridCol w="2761488"/>
                <a:gridCol w="2761488"/>
              </a:tblGrid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Giai đoạn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Requests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Avg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P99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1. Cold-start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19.75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22.43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2. Burst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17.71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32.63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3. Warm</a:t>
                      </a:r>
                    </a:p>
                  </a:txBody>
                  <a:tcPr anchor="ctr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39</a:t>
                      </a:r>
                    </a:p>
                  </a:txBody>
                  <a:tcPr anchor="ctr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3.64 s</a:t>
                      </a:r>
                    </a:p>
                  </a:txBody>
                  <a:tcPr anchor="ctr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</a:rPr>
                        <a:t>5.64 s</a:t>
                      </a:r>
                    </a:p>
                  </a:txBody>
                  <a:tcPr anchor="ctr">
                    <a:solidFill>
                      <a:srgbClr val="ECFE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1947672"/>
            <a:ext cx="1104595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478024"/>
            <a:ext cx="1104595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3008376"/>
            <a:ext cx="1104595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66928"/>
            <a:ext cx="73152" cy="521207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56692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0F172A"/>
                </a:solidFill>
                <a:latin typeface="Merriweather"/>
                <a:ea typeface="Merriweather"/>
                <a:cs typeface="Merriweather"/>
              </a:rPr>
              <a:t>Biến Động Độ Trễ Theo Giai Đoạn</a:t>
            </a:r>
          </a:p>
        </p:txBody>
      </p:sp>
      <p:pic>
        <p:nvPicPr>
          <p:cNvPr id="5" name="Picture 4" descr="05-cold-burst-wa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126" y="1234440"/>
            <a:ext cx="8049442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989320"/>
            <a:ext cx="11045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DM Sans"/>
                <a:ea typeface="DM Sans"/>
                <a:cs typeface="DM Sans"/>
              </a:rPr>
              <a:t>Warm P99 = 5.64s — khoảng cách Cold−Warm ước lượng chi phí khởi tạo Pod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66928"/>
            <a:ext cx="73152" cy="521207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56692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0F172A"/>
                </a:solidFill>
                <a:latin typeface="Merriweather"/>
                <a:ea typeface="Merriweather"/>
                <a:cs typeface="Merriweather"/>
              </a:rPr>
              <a:t>Phân Tích Chi Phí Cold-start (Optimized)</a:t>
            </a:r>
          </a:p>
        </p:txBody>
      </p:sp>
      <p:pic>
        <p:nvPicPr>
          <p:cNvPr id="5" name="Picture 4" descr="06-model-load-va-phan-bo-coldst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228" y="1234440"/>
            <a:ext cx="10565238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989320"/>
            <a:ext cx="11045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DM Sans"/>
                <a:ea typeface="DM Sans"/>
                <a:cs typeface="DM Sans"/>
              </a:rPr>
              <a:t>Nạp model 1.38s (~8%) — phần còn lại: scheduling, runtime Python, deserialize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66928"/>
            <a:ext cx="73152" cy="521207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56692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0F172A"/>
                </a:solidFill>
                <a:latin typeface="Merriweather"/>
                <a:ea typeface="Merriweather"/>
                <a:cs typeface="Merriweather"/>
              </a:rPr>
              <a:t>Thảo Luận</a:t>
            </a:r>
          </a:p>
        </p:txBody>
      </p:sp>
      <p:pic>
        <p:nvPicPr>
          <p:cNvPr id="5" name="Picture 4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62456"/>
            <a:ext cx="228600" cy="2468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0976" y="1325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Weight-Sharing qua RAM loại bỏ hiệu quả nút thắt I/O đĩa khi nạp weights.</a:t>
            </a:r>
          </a:p>
        </p:txBody>
      </p:sp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92807"/>
            <a:ext cx="228600" cy="2468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0976" y="1856231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Sau tối ưu I/O, cold-start còn ~17s chủ yếu do lập lịch Pod và runtime Python.</a:t>
            </a:r>
          </a:p>
        </p:txBody>
      </p:sp>
      <p:pic>
        <p:nvPicPr>
          <p:cNvPr id="9" name="Picture 8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423160"/>
            <a:ext cx="228600" cy="246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0976" y="238658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Knative autoscaling xử lý burst tốt trong giới hạn max-scale=5.</a:t>
            </a:r>
          </a:p>
        </p:txBody>
      </p:sp>
      <p:pic>
        <p:nvPicPr>
          <p:cNvPr id="11" name="Picture 10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953512"/>
            <a:ext cx="228600" cy="246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0976" y="291693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Pipeline k6 + Prometheus đo end-to-end và nội tại độc lập, có thể tái lập.</a:t>
            </a:r>
          </a:p>
        </p:txBody>
      </p:sp>
      <p:pic>
        <p:nvPicPr>
          <p:cNvPr id="13" name="Picture 1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483864"/>
            <a:ext cx="228600" cy="2468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0976" y="34472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Khoảng cách Cold (22.43s) vs Warm (5.64s) hỗ trợ thiết lập ngưỡng SLA.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331720"/>
            <a:ext cx="9418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1E3A8A"/>
                </a:solidFill>
                <a:latin typeface="Merriweather"/>
                <a:ea typeface="Merriweather"/>
                <a:cs typeface="Merriweather"/>
              </a:rPr>
              <a:t>09. Kết Luận &amp; Hướng Phát Triển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23560" y="3246120"/>
            <a:ext cx="950976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6576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Tóm tắt đóng góp, hạn chế thực nghiệm và các hướng mở rộng tiếp theo.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66928"/>
            <a:ext cx="73152" cy="521207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56692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0F172A"/>
                </a:solidFill>
                <a:latin typeface="Merriweather"/>
                <a:ea typeface="Merriweather"/>
                <a:cs typeface="Merriweather"/>
              </a:rPr>
              <a:t>Kết Luận</a:t>
            </a:r>
          </a:p>
        </p:txBody>
      </p:sp>
      <p:pic>
        <p:nvPicPr>
          <p:cNvPr id="5" name="Picture 4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62456"/>
            <a:ext cx="228600" cy="2468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0976" y="1325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Đã thiết kế và triển khai kiến trúc AI Serverless trên Kubernetes + Knative.</a:t>
            </a:r>
          </a:p>
        </p:txBody>
      </p:sp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92807"/>
            <a:ext cx="228600" cy="2468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0976" y="1856231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Weight-Sharing qua tmpfs giảm 76.9% P99 cold-start (75.00s → 17.35s).</a:t>
            </a:r>
          </a:p>
        </p:txBody>
      </p:sp>
      <p:pic>
        <p:nvPicPr>
          <p:cNvPr id="9" name="Picture 8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423160"/>
            <a:ext cx="228600" cy="246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0976" y="238658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Hệ thống ổn định dưới burst traffic: 0% lỗi HTTP, P99 = 46.37s &lt; 60s.</a:t>
            </a:r>
          </a:p>
        </p:txBody>
      </p:sp>
      <p:pic>
        <p:nvPicPr>
          <p:cNvPr id="11" name="Picture 10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953512"/>
            <a:ext cx="228600" cy="246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0976" y="291693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Xây dựng pipeline giám sát MLOps: k6 + Prometheus + Grafana.</a:t>
            </a:r>
          </a:p>
        </p:txBody>
      </p:sp>
      <p:pic>
        <p:nvPicPr>
          <p:cNvPr id="13" name="Picture 1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483864"/>
            <a:ext cx="228600" cy="2468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0976" y="34472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Đặt weights “nóng” trên RAM là chiến lược hiệu quả cho Serverless AI.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66928"/>
            <a:ext cx="73152" cy="521207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56692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0F172A"/>
                </a:solidFill>
                <a:latin typeface="Merriweather"/>
                <a:ea typeface="Merriweather"/>
                <a:cs typeface="Merriweather"/>
              </a:rPr>
              <a:t>Hạn Chế &amp; Hướng Phát Triển</a:t>
            </a:r>
          </a:p>
        </p:txBody>
      </p:sp>
      <p:pic>
        <p:nvPicPr>
          <p:cNvPr id="5" name="Picture 4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5330952" cy="4572000"/>
          </a:xfrm>
          <a:prstGeom prst="rect">
            <a:avLst/>
          </a:prstGeom>
        </p:spPr>
      </p:pic>
      <p:pic>
        <p:nvPicPr>
          <p:cNvPr id="6" name="Picture 5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417320"/>
            <a:ext cx="5330952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0976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  <a:latin typeface="Merriweather"/>
                <a:ea typeface="Merriweather"/>
                <a:cs typeface="Merriweather"/>
              </a:rPr>
              <a:t>Hạn chế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1031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Phạm vi thực nghiệm còn giới hạn bởi môi trường giả lập.</a:t>
            </a:r>
          </a:p>
        </p:txBody>
      </p:sp>
      <p:pic>
        <p:nvPicPr>
          <p:cNvPr id="9" name="Picture 8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154680"/>
            <a:ext cx="201168" cy="2194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80160" y="31363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Minikube single-node — chưa đa node</a:t>
            </a:r>
          </a:p>
        </p:txBody>
      </p:sp>
      <p:pic>
        <p:nvPicPr>
          <p:cNvPr id="11" name="Picture 10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593592"/>
            <a:ext cx="201168" cy="2194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80160" y="3575304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tmpfs 4GB cấu hình tĩnh</a:t>
            </a:r>
          </a:p>
        </p:txBody>
      </p:sp>
      <p:pic>
        <p:nvPicPr>
          <p:cNvPr id="13" name="Picture 12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032504"/>
            <a:ext cx="201168" cy="2194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80160" y="4014216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Cold-start còn ~17s sau tối ưu I/O</a:t>
            </a:r>
          </a:p>
        </p:txBody>
      </p:sp>
      <p:pic>
        <p:nvPicPr>
          <p:cNvPr id="15" name="Picture 14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471416"/>
            <a:ext cx="201168" cy="2194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80160" y="445312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Mẫu thống kê n=3 — mang tính minh họa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5976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  <a:latin typeface="Merriweather"/>
                <a:ea typeface="Merriweather"/>
                <a:cs typeface="Merriweather"/>
              </a:rPr>
              <a:t>Hướng phát triển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21031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Mở rộng sang môi trường phân tán và tối ưu runtime sâu hơn.</a:t>
            </a:r>
          </a:p>
        </p:txBody>
      </p:sp>
      <p:pic>
        <p:nvPicPr>
          <p:cNvPr id="19" name="Picture 18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3154680"/>
            <a:ext cx="201168" cy="2194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95160" y="31363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Cache phân tán: Alluxio multi-node</a:t>
            </a:r>
          </a:p>
        </p:txBody>
      </p:sp>
      <p:pic>
        <p:nvPicPr>
          <p:cNvPr id="21" name="Picture 20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3593592"/>
            <a:ext cx="201168" cy="21945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95160" y="3575304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Nén model: Quantization / Pruning</a:t>
            </a:r>
          </a:p>
        </p:txBody>
      </p:sp>
      <p:pic>
        <p:nvPicPr>
          <p:cNvPr id="23" name="Picture 22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4032504"/>
            <a:ext cx="201168" cy="21945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95160" y="4014216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Pre-warming theo dự báo lưu lượng</a:t>
            </a:r>
          </a:p>
        </p:txBody>
      </p:sp>
      <p:pic>
        <p:nvPicPr>
          <p:cNvPr id="25" name="Picture 24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4471416"/>
            <a:ext cx="201168" cy="2194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95160" y="445312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Engine: Triton / ONNX Runtime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0" y="2148840"/>
            <a:ext cx="576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Merriweather"/>
                <a:ea typeface="Merriweather"/>
                <a:cs typeface="Merriweather"/>
              </a:rPr>
              <a:t>Kết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503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4155"/>
                </a:solidFill>
                <a:latin typeface="DM Sans"/>
                <a:ea typeface="DM Sans"/>
                <a:cs typeface="DM Sans"/>
              </a:rPr>
              <a:t>Đồ án đã giảm đáng kể nút thắt I/O đĩa khi nạp trọng số AI trên hạ tầng Serverless. Weight-Sharing qua RAM là chiến lược hiệu quả; chi phí lập lịch và runtime vẫn là giới hạn tiếp theo cần tối ưu.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2148840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1E3A8A"/>
                </a:solidFill>
                <a:latin typeface="Merriweather"/>
                <a:ea typeface="Merriweather"/>
                <a:cs typeface="Merriweather"/>
              </a:rPr>
              <a:t>Hỏi &amp; Đáp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38328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4748B"/>
                </a:solidFill>
                <a:latin typeface="DM Sans"/>
                <a:ea typeface="DM Sans"/>
                <a:cs typeface="DM Sans"/>
              </a:rPr>
              <a:t>Xin cảm ơn Thầy/Cô và các bạn đã lắng nghe!</a:t>
            </a:r>
          </a:p>
        </p:txBody>
      </p:sp>
      <p:pic>
        <p:nvPicPr>
          <p:cNvPr id="5" name="Picture 4" descr="image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4297680"/>
            <a:ext cx="475488" cy="38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