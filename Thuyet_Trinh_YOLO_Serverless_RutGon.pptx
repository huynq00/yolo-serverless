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5"/>
  </p:normalViewPr>
  <p:slideViewPr>
    <p:cSldViewPr snapToGrid="0" snapToObjects="1">
      <p:cViewPr varScale="1">
        <p:scale>
          <a:sx n="122" d="100"/>
          <a:sy n="122" d="100"/>
        </p:scale>
        <p:origin x="39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DB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B8E8"/>
                </a:solidFill>
                <a:latin typeface="Calibri"/>
              </a:rPr>
              <a:t>BÁO CÁO ĐỒ 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Tối ưu hóa Cold-Start AI Serverless
bằng Weight-Sharing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8B8D0"/>
                </a:solidFill>
                <a:latin typeface="Calibri"/>
              </a:rPr>
              <a:t>Hệ tính toán phân bố nâng cao (NT2204.CH201)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54880"/>
            <a:ext cx="10515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vi-VN" sz="1500" dirty="0">
                <a:solidFill>
                  <a:srgbClr val="F2F6FC"/>
                </a:solidFill>
                <a:latin typeface="Calibri"/>
              </a:rPr>
              <a:t>Học viên</a:t>
            </a:r>
            <a:r>
              <a:rPr sz="1500" b="0" dirty="0">
                <a:solidFill>
                  <a:srgbClr val="F2F6FC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F2F6FC"/>
                </a:solidFill>
                <a:latin typeface="Calibri"/>
              </a:rPr>
              <a:t>thực</a:t>
            </a:r>
            <a:r>
              <a:rPr sz="1500" b="0" dirty="0">
                <a:solidFill>
                  <a:srgbClr val="F2F6FC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F2F6FC"/>
                </a:solidFill>
                <a:latin typeface="Calibri"/>
              </a:rPr>
              <a:t>hiện</a:t>
            </a:r>
            <a:r>
              <a:rPr sz="1500" b="0" dirty="0">
                <a:solidFill>
                  <a:srgbClr val="F2F6FC"/>
                </a:solidFill>
                <a:latin typeface="Calibri"/>
              </a:rPr>
              <a:t>: </a:t>
            </a:r>
            <a:r>
              <a:rPr sz="1500" b="0" dirty="0" err="1">
                <a:solidFill>
                  <a:srgbClr val="F2F6FC"/>
                </a:solidFill>
                <a:latin typeface="Calibri"/>
              </a:rPr>
              <a:t>Ngô</a:t>
            </a:r>
            <a:r>
              <a:rPr sz="1500" b="0" dirty="0">
                <a:solidFill>
                  <a:srgbClr val="F2F6FC"/>
                </a:solidFill>
                <a:latin typeface="Calibri"/>
              </a:rPr>
              <a:t> Quang </a:t>
            </a:r>
            <a:r>
              <a:rPr sz="1500" b="0" dirty="0" err="1">
                <a:solidFill>
                  <a:srgbClr val="F2F6FC"/>
                </a:solidFill>
                <a:latin typeface="Calibri"/>
              </a:rPr>
              <a:t>Huy</a:t>
            </a:r>
            <a:endParaRPr sz="1500" b="0" dirty="0">
              <a:solidFill>
                <a:srgbClr val="F2F6FC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5166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6FC"/>
                </a:solidFill>
                <a:latin typeface="Calibri"/>
              </a:rPr>
              <a:t>Giảng viên hướng dẫn: TS. Huỳnh Văn Đặng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3093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A8B8D0"/>
                </a:solidFill>
                <a:latin typeface="Calibri"/>
              </a:rPr>
              <a:t>1/17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DB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8B8D0"/>
                </a:solidFill>
                <a:latin typeface="Calibri"/>
              </a:rPr>
              <a:t>YOLO Serverless · Weight-Sharing · NT2204.CH201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8B8D0"/>
                </a:solidFill>
                <a:latin typeface="Calibri"/>
              </a:rPr>
              <a:t>2/17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Nội dung trình bày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DB8E8"/>
                </a:solidFill>
                <a:latin typeface="Calibri"/>
              </a:rPr>
              <a:t>Một mạch: vấn đề → giải pháp → đo lường → kết quả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5394960" cy="1143000"/>
          </a:xfrm>
          <a:prstGeom prst="roundRect">
            <a:avLst>
              <a:gd name="adj" fmla="val 8000"/>
            </a:avLst>
          </a:prstGeom>
          <a:solidFill>
            <a:srgbClr val="122E56"/>
          </a:solidFill>
          <a:ln w="12700">
            <a:solidFill>
              <a:srgbClr val="1E4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600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DB8E8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2F6FC"/>
                </a:solidFill>
                <a:latin typeface="Calibri"/>
              </a:rPr>
              <a:t>Vấn đề &amp; câu hỏi nghiên cứu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71600"/>
            <a:ext cx="5394960" cy="1143000"/>
          </a:xfrm>
          <a:prstGeom prst="roundRect">
            <a:avLst>
              <a:gd name="adj" fmla="val 8000"/>
            </a:avLst>
          </a:prstGeom>
          <a:solidFill>
            <a:srgbClr val="122E56"/>
          </a:solidFill>
          <a:ln w="12700">
            <a:solidFill>
              <a:srgbClr val="1E4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600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DB8E8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2F6FC"/>
                </a:solidFill>
                <a:latin typeface="Calibri"/>
              </a:rPr>
              <a:t>Mục tiêu và ý tưởng Weight-Sharing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743200"/>
            <a:ext cx="5394960" cy="1143000"/>
          </a:xfrm>
          <a:prstGeom prst="roundRect">
            <a:avLst>
              <a:gd name="adj" fmla="val 8000"/>
            </a:avLst>
          </a:prstGeom>
          <a:solidFill>
            <a:srgbClr val="122E56"/>
          </a:solidFill>
          <a:ln w="12700">
            <a:solidFill>
              <a:srgbClr val="1E4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971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DB8E8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0632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2F6FC"/>
                </a:solidFill>
                <a:latin typeface="Calibri"/>
              </a:rPr>
              <a:t>Kiến trúc &amp; hiện thực rút gọn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743200"/>
            <a:ext cx="5394960" cy="1143000"/>
          </a:xfrm>
          <a:prstGeom prst="roundRect">
            <a:avLst>
              <a:gd name="adj" fmla="val 8000"/>
            </a:avLst>
          </a:prstGeom>
          <a:solidFill>
            <a:srgbClr val="122E56"/>
          </a:solidFill>
          <a:ln w="12700">
            <a:solidFill>
              <a:srgbClr val="1E4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2971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DB8E8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30632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2F6FC"/>
                </a:solidFill>
                <a:latin typeface="Calibri"/>
              </a:rPr>
              <a:t>Kịch bản thử nghiệm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114800"/>
            <a:ext cx="5394960" cy="1143000"/>
          </a:xfrm>
          <a:prstGeom prst="roundRect">
            <a:avLst>
              <a:gd name="adj" fmla="val 8000"/>
            </a:avLst>
          </a:prstGeom>
          <a:solidFill>
            <a:srgbClr val="122E56"/>
          </a:solidFill>
          <a:ln w="12700">
            <a:solidFill>
              <a:srgbClr val="1E4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43434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DB8E8"/>
                </a:solidFill>
                <a:latin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4348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2F6FC"/>
                </a:solidFill>
                <a:latin typeface="Calibri"/>
              </a:rPr>
              <a:t>Kết quả định lượng &amp; thảo luận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4114800"/>
            <a:ext cx="5394960" cy="1143000"/>
          </a:xfrm>
          <a:prstGeom prst="roundRect">
            <a:avLst>
              <a:gd name="adj" fmla="val 8000"/>
            </a:avLst>
          </a:prstGeom>
          <a:solidFill>
            <a:srgbClr val="122E56"/>
          </a:solidFill>
          <a:ln w="12700">
            <a:solidFill>
              <a:srgbClr val="1E4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43434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DB8E8"/>
                </a:solidFill>
                <a:latin typeface="Calibri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44348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2F6FC"/>
                </a:solidFill>
                <a:latin typeface="Calibri"/>
              </a:rPr>
              <a:t>Kết luận, hạn chế, hướng phát triển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DB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8B8D0"/>
                </a:solidFill>
                <a:latin typeface="Calibri"/>
              </a:rPr>
              <a:t>YOLO Serverless · Weight-Sharing · NT2204.CH201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8B8D0"/>
                </a:solidFill>
                <a:latin typeface="Calibri"/>
              </a:rPr>
              <a:t>3/17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Bối cảnh &amp; câu hỏi nghiên cứu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DB8E8"/>
                </a:solidFill>
                <a:latin typeface="Calibri"/>
              </a:rPr>
              <a:t>Serverless AI gặp nút thắt I/O khi nạp weights lúc scale-from-zero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6949440" cy="4389120"/>
          </a:xfrm>
          <a:prstGeom prst="roundRect">
            <a:avLst>
              <a:gd name="adj" fmla="val 8000"/>
            </a:avLst>
          </a:prstGeom>
          <a:solidFill>
            <a:srgbClr val="122E56"/>
          </a:solidFill>
          <a:ln w="12700">
            <a:solidFill>
              <a:srgbClr val="1E4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6492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F2F6FC"/>
                </a:solidFill>
                <a:latin typeface="Calibri"/>
              </a:rPr>
              <a:t>•  Scale-to-zero tiết kiệm chi phí, nhưng mỗi Pod mới phải cold-start.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2F6FC"/>
                </a:solidFill>
                <a:latin typeface="Calibri"/>
              </a:rPr>
              <a:t>•  YOLO-World ~90MB: nạp weights từ đĩa là nút thắt chính.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2F6FC"/>
                </a:solidFill>
                <a:latin typeface="Calibri"/>
              </a:rPr>
              <a:t>•  P99 latency tăng đột biến → khó đáp ứng thời gian thực.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B8E8"/>
                </a:solidFill>
                <a:latin typeface="Calibri"/>
              </a:rPr>
              <a:t>CÂU HỎI NGHIÊN CỨU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34840"/>
            <a:ext cx="6492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Làm sao giảm chi phí nạp weights mà vẫn giữ kiến trúc Serverless (autoscaling + scale-to-zero)?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325880"/>
            <a:ext cx="4023360" cy="4389120"/>
          </a:xfrm>
          <a:prstGeom prst="roundRect">
            <a:avLst>
              <a:gd name="adj" fmla="val 8000"/>
            </a:avLst>
          </a:prstGeom>
          <a:solidFill>
            <a:srgbClr val="122E56"/>
          </a:solidFill>
          <a:ln w="12700">
            <a:solidFill>
              <a:srgbClr val="1E4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0956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B8E8"/>
                </a:solidFill>
                <a:latin typeface="Calibri"/>
              </a:rPr>
              <a:t>Hướng tiếp cận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2103120"/>
            <a:ext cx="3566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2F6FC"/>
                </a:solidFill>
                <a:latin typeface="Calibri"/>
              </a:rPr>
              <a:t>•  Weight-Sharing qua tmpfs (RAM)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F2F6FC"/>
                </a:solidFill>
                <a:latin typeface="Calibri"/>
              </a:rPr>
              <a:t>•  hostPath dùng chung trên node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F2F6FC"/>
                </a:solidFill>
                <a:latin typeface="Calibri"/>
              </a:rPr>
              <a:t>•  Đối chứng Baseline đọc từ đĩa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DB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8B8D0"/>
                </a:solidFill>
                <a:latin typeface="Calibri"/>
              </a:rPr>
              <a:t>YOLO Serverless · Weight-Sharing · NT2204.CH201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8B8D0"/>
                </a:solidFill>
                <a:latin typeface="Calibri"/>
              </a:rPr>
              <a:t>4/17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Mục tiêu cụ thể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DB8E8"/>
                </a:solidFill>
                <a:latin typeface="Calibri"/>
              </a:rPr>
              <a:t>Ba mục tiêu đo được trong phạm vi đồ án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3611880" cy="4114800"/>
          </a:xfrm>
          <a:prstGeom prst="roundRect">
            <a:avLst>
              <a:gd name="adj" fmla="val 8000"/>
            </a:avLst>
          </a:prstGeom>
          <a:solidFill>
            <a:srgbClr val="122E56"/>
          </a:solidFill>
          <a:ln w="12700">
            <a:solidFill>
              <a:srgbClr val="1E4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DB8E8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Hạ tầng Serverless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3154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8B8D0"/>
                </a:solidFill>
                <a:latin typeface="Calibri"/>
              </a:rPr>
              <a:t>Minikube + Knative Serving
autoscaling &amp; scale-to-zero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463040"/>
            <a:ext cx="3611880" cy="4114800"/>
          </a:xfrm>
          <a:prstGeom prst="roundRect">
            <a:avLst>
              <a:gd name="adj" fmla="val 8000"/>
            </a:avLst>
          </a:prstGeom>
          <a:solidFill>
            <a:srgbClr val="122E56"/>
          </a:solidFill>
          <a:ln w="12700">
            <a:solidFill>
              <a:srgbClr val="1E4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73736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DB8E8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286000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Weight-Sharing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200400"/>
            <a:ext cx="3154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8B8D0"/>
                </a:solidFill>
                <a:latin typeface="Calibri"/>
              </a:rPr>
              <a:t>tmpfs 4GB trên RAM
chia sẻ weights qua hostPath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463040"/>
            <a:ext cx="3611880" cy="4114800"/>
          </a:xfrm>
          <a:prstGeom prst="roundRect">
            <a:avLst>
              <a:gd name="adj" fmla="val 8000"/>
            </a:avLst>
          </a:prstGeom>
          <a:solidFill>
            <a:srgbClr val="122E56"/>
          </a:solidFill>
          <a:ln w="12700">
            <a:solidFill>
              <a:srgbClr val="1E4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173736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DB8E8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286000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Đo lường đối chứng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200400"/>
            <a:ext cx="3154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8B8D0"/>
                </a:solidFill>
                <a:latin typeface="Calibri"/>
              </a:rPr>
              <a:t>k6 + Prometheus/Grafana
P99: RAM vs Disk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DB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8B8D0"/>
                </a:solidFill>
                <a:latin typeface="Calibri"/>
              </a:rPr>
              <a:t>YOLO Serverless · Weight-Sharing · NT2204.CH201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8B8D0"/>
                </a:solidFill>
                <a:latin typeface="Calibri"/>
              </a:rPr>
              <a:t>5/17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Ý tưởng: Weight-Sharing (tmpfs vs Disk)</a:t>
            </a:r>
          </a:p>
        </p:txBody>
      </p:sp>
      <p:pic>
        <p:nvPicPr>
          <p:cNvPr id="7" name="Picture 6" descr="Hinh-3.2-weight-sharing-tmpfs-vs-d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834" y="960120"/>
            <a:ext cx="7865851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DB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8B8D0"/>
                </a:solidFill>
                <a:latin typeface="Calibri"/>
              </a:rPr>
              <a:t>YOLO Serverless · Weight-Sharing · NT2204.CH201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8B8D0"/>
                </a:solidFill>
                <a:latin typeface="Calibri"/>
              </a:rPr>
              <a:t>6/17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Stack công nghệ (rút gọn)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DB8E8"/>
                </a:solidFill>
                <a:latin typeface="Calibri"/>
              </a:rPr>
              <a:t>Chỉ các thành phần cần để hiểu pipeline end-to-end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122E56"/>
          </a:solidFill>
          <a:ln w="12700">
            <a:solidFill>
              <a:srgbClr val="1E4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8191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B8E8"/>
                </a:solidFill>
                <a:latin typeface="Calibri"/>
              </a:rPr>
              <a:t>Hạ tầng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5819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2F6FC"/>
                </a:solidFill>
                <a:latin typeface="Calibri"/>
              </a:rPr>
              <a:t>Kubernetes (Minikube), Knative Serving, Kourier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42316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122E56"/>
          </a:solidFill>
          <a:ln w="12700">
            <a:solidFill>
              <a:srgbClr val="1E4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679191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B8E8"/>
                </a:solidFill>
                <a:latin typeface="Calibri"/>
              </a:rPr>
              <a:t>Ứng dụng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679191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2F6FC"/>
                </a:solidFill>
                <a:latin typeface="Calibri"/>
              </a:rPr>
              <a:t>FastAPI + YOLO-World (Ultralytics)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520439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122E56"/>
          </a:solidFill>
          <a:ln w="12700">
            <a:solidFill>
              <a:srgbClr val="1E4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7764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B8E8"/>
                </a:solidFill>
                <a:latin typeface="Calibri"/>
              </a:rPr>
              <a:t>Lưu trữ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77647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2F6FC"/>
                </a:solidFill>
                <a:latin typeface="Calibri"/>
              </a:rPr>
              <a:t>hostPath → tmpfs (Optimized) / disk (Baseline)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61772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122E56"/>
          </a:solidFill>
          <a:ln w="12700">
            <a:solidFill>
              <a:srgbClr val="1E4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87375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B8E8"/>
                </a:solidFill>
                <a:latin typeface="Calibri"/>
              </a:rPr>
              <a:t>Đo lường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487375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2F6FC"/>
                </a:solidFill>
                <a:latin typeface="Calibri"/>
              </a:rPr>
              <a:t>k6 · Prometheus · Grafana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DB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8B8D0"/>
                </a:solidFill>
                <a:latin typeface="Calibri"/>
              </a:rPr>
              <a:t>YOLO Serverless · Weight-Sharing · NT2204.CH201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8B8D0"/>
                </a:solidFill>
                <a:latin typeface="Calibri"/>
              </a:rPr>
              <a:t>7/17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Kiến trúc tổng thể</a:t>
            </a:r>
          </a:p>
        </p:txBody>
      </p:sp>
      <p:pic>
        <p:nvPicPr>
          <p:cNvPr id="7" name="Picture 6" descr="Hinh-3.1-pipeline-kien-truc-tong-t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998" y="914400"/>
            <a:ext cx="7669522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DB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8B8D0"/>
                </a:solidFill>
                <a:latin typeface="Calibri"/>
              </a:rPr>
              <a:t>YOLO Serverless · Weight-Sharing · NT2204.CH201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8B8D0"/>
                </a:solidFill>
                <a:latin typeface="Calibri"/>
              </a:rPr>
              <a:t>8/17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Hiện thực rút gọn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DB8E8"/>
                </a:solidFill>
                <a:latin typeface="Calibri"/>
              </a:rPr>
              <a:t>Hai dịch vụ đối chứng — cùng image, khác lớp lưu trữ weights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5486400" cy="4297680"/>
          </a:xfrm>
          <a:prstGeom prst="roundRect">
            <a:avLst>
              <a:gd name="adj" fmla="val 8000"/>
            </a:avLst>
          </a:prstGeom>
          <a:solidFill>
            <a:srgbClr val="122E56"/>
          </a:solidFill>
          <a:ln w="12700">
            <a:solidFill>
              <a:srgbClr val="1E4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B8E8"/>
                </a:solidFill>
                <a:latin typeface="Calibri"/>
              </a:rPr>
              <a:t>Hai Knative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4884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2F6FC"/>
                </a:solidFill>
                <a:latin typeface="Calibri"/>
              </a:rPr>
              <a:t>•  yolo-inference → tmpfs (Optimized)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F2F6FC"/>
                </a:solidFill>
                <a:latin typeface="Calibri"/>
              </a:rPr>
              <a:t>•  yolo-inference-baseline → disk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F2F6FC"/>
                </a:solidFill>
                <a:latin typeface="Calibri"/>
              </a:rPr>
              <a:t>•  min-scale=0, max-scale=5, concurrency=1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F2F6FC"/>
                </a:solidFill>
                <a:latin typeface="Calibri"/>
              </a:rPr>
              <a:t>•  Model nạp lúc startup → I/O vào cold-start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440680" cy="4297680"/>
          </a:xfrm>
          <a:prstGeom prst="roundRect">
            <a:avLst>
              <a:gd name="adj" fmla="val 8000"/>
            </a:avLst>
          </a:prstGeom>
          <a:solidFill>
            <a:srgbClr val="122E56"/>
          </a:solidFill>
          <a:ln w="12700">
            <a:solidFill>
              <a:srgbClr val="1E4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B8E8"/>
                </a:solidFill>
                <a:latin typeface="Calibri"/>
              </a:rPr>
              <a:t>API đo lường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4884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2F6FC"/>
                </a:solidFill>
                <a:latin typeface="Calibri"/>
              </a:rPr>
              <a:t>•  POST /predict — suy diễn YOLO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F2F6FC"/>
                </a:solidFill>
                <a:latin typeface="Calibri"/>
              </a:rPr>
              <a:t>•  GET /metrics — Prometheus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F2F6FC"/>
                </a:solidFill>
                <a:latin typeface="Calibri"/>
              </a:rPr>
              <a:t>•  yolo_model_load_seconds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F2F6FC"/>
                </a:solidFill>
                <a:latin typeface="Calibri"/>
              </a:rPr>
              <a:t>•  yolo_inference_request_duration_seconds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DB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8B8D0"/>
                </a:solidFill>
                <a:latin typeface="Calibri"/>
              </a:rPr>
              <a:t>YOLO Serverless · Weight-Sharing · NT2204.CH201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8B8D0"/>
                </a:solidFill>
                <a:latin typeface="Calibri"/>
              </a:rPr>
              <a:t>9/17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Kịch bản thử nghiệm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DB8E8"/>
                </a:solidFill>
                <a:latin typeface="Calibri"/>
              </a:rPr>
              <a:t>Chỉ số then chốt: P99 latency (góc nhìn người dùng qua k6)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3611880" cy="4023360"/>
          </a:xfrm>
          <a:prstGeom prst="roundRect">
            <a:avLst>
              <a:gd name="adj" fmla="val 8000"/>
            </a:avLst>
          </a:prstGeom>
          <a:solidFill>
            <a:srgbClr val="122E56"/>
          </a:solidFill>
          <a:ln w="12700">
            <a:solidFill>
              <a:srgbClr val="1E4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EE0A8"/>
                </a:solidFill>
                <a:latin typeface="Calibri"/>
              </a:rPr>
              <a:t>Cold-start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8B8D0"/>
                </a:solidFill>
                <a:latin typeface="Calibri"/>
              </a:rPr>
              <a:t>3 VU · scale-to-zero trước mỗi lần
lặp n=3 cho RAM và Disk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63040"/>
            <a:ext cx="3611880" cy="4023360"/>
          </a:xfrm>
          <a:prstGeom prst="roundRect">
            <a:avLst>
              <a:gd name="adj" fmla="val 8000"/>
            </a:avLst>
          </a:prstGeom>
          <a:solidFill>
            <a:srgbClr val="122E56"/>
          </a:solidFill>
          <a:ln w="12700">
            <a:solidFill>
              <a:srgbClr val="1E4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Burst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5176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8B8D0"/>
                </a:solidFill>
                <a:latin typeface="Calibri"/>
              </a:rPr>
              <a:t>Ramp → 15 VU · 60s
nghiệm thu: error &lt;10%, P99 &lt;60s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463040"/>
            <a:ext cx="3611880" cy="4023360"/>
          </a:xfrm>
          <a:prstGeom prst="roundRect">
            <a:avLst>
              <a:gd name="adj" fmla="val 8000"/>
            </a:avLst>
          </a:prstGeom>
          <a:solidFill>
            <a:srgbClr val="122E56"/>
          </a:solidFill>
          <a:ln w="12700">
            <a:solidFill>
              <a:srgbClr val="1E4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60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Full cycle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65176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8B8D0"/>
                </a:solidFill>
                <a:latin typeface="Calibri"/>
              </a:rPr>
              <a:t>Cold → Burst → Warm
ước lượng chi phí khởi tạo Pod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DB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8B8D0"/>
                </a:solidFill>
                <a:latin typeface="Calibri"/>
              </a:rPr>
              <a:t>YOLO Serverless · Weight-Sharing · NT2204.CH201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8B8D0"/>
                </a:solidFill>
                <a:latin typeface="Calibri"/>
              </a:rPr>
              <a:t>10/17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Kết quả nổi bật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DB8E8"/>
                </a:solidFill>
                <a:latin typeface="Calibri"/>
              </a:rPr>
              <a:t>Weight-Sharing qua RAM loại bỏ nút thắt I/O đĩa khi cold-start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029200" cy="4297680"/>
          </a:xfrm>
          <a:prstGeom prst="roundRect">
            <a:avLst>
              <a:gd name="adj" fmla="val 8000"/>
            </a:avLst>
          </a:prstGeom>
          <a:solidFill>
            <a:srgbClr val="122E56"/>
          </a:solidFill>
          <a:ln w="12700">
            <a:solidFill>
              <a:srgbClr val="1E4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DB8E8"/>
                </a:solidFill>
                <a:latin typeface="Calibri"/>
              </a:rPr>
              <a:t>Giảm P99 cold-start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5EE0A8"/>
                </a:solidFill>
                <a:latin typeface="Calibri"/>
              </a:rPr>
              <a:t>−76.9%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661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75.00s  →  17.35s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9768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8D0"/>
                </a:solidFill>
                <a:latin typeface="Calibri"/>
              </a:rPr>
              <a:t>Optimized σ=1.68s  ·  Baseline σ=12.78s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1417320"/>
            <a:ext cx="5897880" cy="4297680"/>
          </a:xfrm>
          <a:prstGeom prst="roundRect">
            <a:avLst>
              <a:gd name="adj" fmla="val 8000"/>
            </a:avLst>
          </a:prstGeom>
          <a:solidFill>
            <a:srgbClr val="122E56"/>
          </a:solidFill>
          <a:ln w="12700">
            <a:solidFill>
              <a:srgbClr val="1E4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DB8E8"/>
                </a:solidFill>
                <a:latin typeface="Calibri"/>
              </a:rPr>
              <a:t>Các chỉ số kèm theo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2286000"/>
            <a:ext cx="5303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2F6FC"/>
                </a:solidFill>
                <a:latin typeface="Calibri"/>
              </a:rPr>
              <a:t>•  Model load từ RAM: 1.38s (~90MB)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F2F6FC"/>
                </a:solidFill>
                <a:latin typeface="Calibri"/>
              </a:rPr>
              <a:t>•  Burst: 0% lỗi HTTP · P99 = 46.37s (&lt; 60s)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F2F6FC"/>
                </a:solidFill>
                <a:latin typeface="Calibri"/>
              </a:rPr>
              <a:t>•  Warm phase: P99 = 5.64s khi Pod sẵn sàng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F2F6FC"/>
                </a:solidFill>
                <a:latin typeface="Calibri"/>
              </a:rPr>
              <a:t>•  Khoảng cách Cold−Warm ≈ chi phí khởi tạo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DB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8B8D0"/>
                </a:solidFill>
                <a:latin typeface="Calibri"/>
              </a:rPr>
              <a:t>YOLO Serverless · Weight-Sharing · NT2204.CH201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8B8D0"/>
                </a:solidFill>
                <a:latin typeface="Calibri"/>
              </a:rPr>
              <a:t>11/17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So sánh P99 cold-start (n=3)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DB8E8"/>
                </a:solidFill>
                <a:latin typeface="Calibri"/>
              </a:rPr>
              <a:t>Optimized ổn định hơn Baseline (σ thấp hơn rõ rệt)</a:t>
            </a:r>
          </a:p>
        </p:txBody>
      </p:sp>
      <p:pic>
        <p:nvPicPr>
          <p:cNvPr id="8" name="Picture 7" descr="Hinh-4.1-cold-start-p99-so-san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7790"/>
            <a:ext cx="7772400" cy="420817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12480" y="1371600"/>
            <a:ext cx="3291840" cy="1920240"/>
          </a:xfrm>
          <a:prstGeom prst="roundRect">
            <a:avLst>
              <a:gd name="adj" fmla="val 8000"/>
            </a:avLst>
          </a:prstGeom>
          <a:solidFill>
            <a:srgbClr val="122E56"/>
          </a:solidFill>
          <a:ln w="12700">
            <a:solidFill>
              <a:srgbClr val="1E4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0" y="15544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EE0A8"/>
                </a:solidFill>
                <a:latin typeface="Calibri"/>
              </a:rPr>
              <a:t>Optimized (RAM)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0116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17.35s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788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8D0"/>
                </a:solidFill>
                <a:latin typeface="Calibri"/>
              </a:rPr>
              <a:t>15.45 · 18.61 · 18.00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3566160"/>
            <a:ext cx="3291840" cy="1920240"/>
          </a:xfrm>
          <a:prstGeom prst="roundRect">
            <a:avLst>
              <a:gd name="adj" fmla="val 8000"/>
            </a:avLst>
          </a:prstGeom>
          <a:solidFill>
            <a:srgbClr val="122E56"/>
          </a:solidFill>
          <a:ln w="12700">
            <a:solidFill>
              <a:srgbClr val="1E4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0" y="374903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A54A"/>
                </a:solidFill>
                <a:latin typeface="Calibri"/>
              </a:rPr>
              <a:t>Baseline (Disk)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42062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75.00s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9834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8D0"/>
                </a:solidFill>
                <a:latin typeface="Calibri"/>
              </a:rPr>
              <a:t>60.45 · 80.12 · 84.42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DB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8B8D0"/>
                </a:solidFill>
                <a:latin typeface="Calibri"/>
              </a:rPr>
              <a:t>YOLO Serverless · Weight-Sharing · NT2204.CH201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8B8D0"/>
                </a:solidFill>
                <a:latin typeface="Calibri"/>
              </a:rPr>
              <a:t>12/17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Burst traffic &amp; chu kỳ Cold → Burst → Warm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DB8E8"/>
                </a:solidFill>
                <a:latin typeface="Calibri"/>
              </a:rPr>
              <a:t>Hệ thống ổn định dưới tải; Warm phản ánh latency khi Pod sẵn sàng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5394960" cy="4572000"/>
          </a:xfrm>
          <a:prstGeom prst="roundRect">
            <a:avLst>
              <a:gd name="adj" fmla="val 8000"/>
            </a:avLst>
          </a:prstGeom>
          <a:solidFill>
            <a:srgbClr val="122E56"/>
          </a:solidFill>
          <a:ln w="12700">
            <a:solidFill>
              <a:srgbClr val="1E4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B8E8"/>
                </a:solidFill>
                <a:latin typeface="Calibri"/>
              </a:rPr>
              <a:t>Burst — nghiệm thu đạt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B8D0"/>
                </a:solidFill>
                <a:latin typeface="Calibri"/>
              </a:rPr>
              <a:t>Tổng requests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61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26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B8D0"/>
                </a:solidFill>
                <a:latin typeface="Calibri"/>
              </a:rPr>
              <a:t>HTTP 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9260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0.00%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490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B8D0"/>
                </a:solidFill>
                <a:latin typeface="Calibri"/>
              </a:rPr>
              <a:t>Avg latency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7490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19.40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B8D0"/>
                </a:solidFill>
                <a:latin typeface="Calibri"/>
              </a:rPr>
              <a:t>P99 latency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46.37 s  (&lt; 60s)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325880"/>
            <a:ext cx="5532120" cy="4572000"/>
          </a:xfrm>
          <a:prstGeom prst="roundRect">
            <a:avLst>
              <a:gd name="adj" fmla="val 8000"/>
            </a:avLst>
          </a:prstGeom>
          <a:solidFill>
            <a:srgbClr val="122E56"/>
          </a:solidFill>
          <a:ln w="12700">
            <a:solidFill>
              <a:srgbClr val="1E4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B8E8"/>
                </a:solidFill>
                <a:latin typeface="Calibri"/>
              </a:rPr>
              <a:t>Full cycle (Optimized)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1488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B8D0"/>
                </a:solidFill>
                <a:latin typeface="Calibri"/>
              </a:rPr>
              <a:t>Giai đoạn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1488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B8D0"/>
                </a:solidFill>
                <a:latin typeface="Calibri"/>
              </a:rPr>
              <a:t>Req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1488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B8D0"/>
                </a:solidFill>
                <a:latin typeface="Calibri"/>
              </a:rPr>
              <a:t>Avg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21488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B8D0"/>
                </a:solidFill>
                <a:latin typeface="Calibri"/>
              </a:rPr>
              <a:t>P99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6517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Calibri"/>
              </a:rPr>
              <a:t>1. Cold-start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26517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6FC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26517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6FC"/>
                </a:solidFill>
                <a:latin typeface="Calibri"/>
              </a:rPr>
              <a:t>19.75s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26517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Calibri"/>
              </a:rPr>
              <a:t>22.43s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429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Calibri"/>
              </a:rPr>
              <a:t>2. Burst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3429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6FC"/>
                </a:solidFill>
                <a:latin typeface="Calibri"/>
              </a:rPr>
              <a:t>69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3429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6FC"/>
                </a:solidFill>
                <a:latin typeface="Calibri"/>
              </a:rPr>
              <a:t>17.71s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3429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Calibri"/>
              </a:rPr>
              <a:t>32.63s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206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Calibri"/>
              </a:rPr>
              <a:t>3. Warm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4206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6FC"/>
                </a:solidFill>
                <a:latin typeface="Calibri"/>
              </a:rPr>
              <a:t>39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4206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6FC"/>
                </a:solidFill>
                <a:latin typeface="Calibri"/>
              </a:rPr>
              <a:t>3.64s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4206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EE0A8"/>
                </a:solidFill>
                <a:latin typeface="Calibri"/>
              </a:rPr>
              <a:t>5.64s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DB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8B8D0"/>
                </a:solidFill>
                <a:latin typeface="Calibri"/>
              </a:rPr>
              <a:t>YOLO Serverless · Weight-Sharing · NT2204.CH201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8B8D0"/>
                </a:solidFill>
                <a:latin typeface="Calibri"/>
              </a:rPr>
              <a:t>13/17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Sau khi tối ưu I/O — còn gì trong cold-start?</a:t>
            </a:r>
          </a:p>
        </p:txBody>
      </p:sp>
      <p:pic>
        <p:nvPicPr>
          <p:cNvPr id="7" name="Picture 6" descr="Hinh-4.4-model-load-va-phan-bo-cold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6126"/>
            <a:ext cx="11521440" cy="498578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DB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8B8D0"/>
                </a:solidFill>
                <a:latin typeface="Calibri"/>
              </a:rPr>
              <a:t>YOLO Serverless · Weight-Sharing · NT2204.CH201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8B8D0"/>
                </a:solidFill>
                <a:latin typeface="Calibri"/>
              </a:rPr>
              <a:t>14/17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Thảo luận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DB8E8"/>
                </a:solidFill>
                <a:latin typeface="Calibri"/>
              </a:rPr>
              <a:t>Ý nghĩa kết quả đối với thiết kế Serverless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5532120" cy="1965960"/>
          </a:xfrm>
          <a:prstGeom prst="roundRect">
            <a:avLst>
              <a:gd name="adj" fmla="val 8000"/>
            </a:avLst>
          </a:prstGeom>
          <a:solidFill>
            <a:srgbClr val="122E56"/>
          </a:solidFill>
          <a:ln w="12700">
            <a:solidFill>
              <a:srgbClr val="1E4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B8E8"/>
                </a:solidFill>
                <a:latin typeface="Calibri"/>
              </a:rPr>
              <a:t>I/O đã hết là nút thắt chính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6FC"/>
                </a:solidFill>
                <a:latin typeface="Calibri"/>
              </a:rPr>
              <a:t>tmpfs loại bỏ hiệu quả chi phí đọc weights từ đĩa.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71600"/>
            <a:ext cx="5532120" cy="1965960"/>
          </a:xfrm>
          <a:prstGeom prst="roundRect">
            <a:avLst>
              <a:gd name="adj" fmla="val 8000"/>
            </a:avLst>
          </a:prstGeom>
          <a:solidFill>
            <a:srgbClr val="122E56"/>
          </a:solidFill>
          <a:ln w="12700">
            <a:solidFill>
              <a:srgbClr val="1E4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59" y="1691640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B8E8"/>
                </a:solidFill>
                <a:latin typeface="Calibri"/>
              </a:rPr>
              <a:t>~17s còn lại là giới hạn mới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2286000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6FC"/>
                </a:solidFill>
                <a:latin typeface="Calibri"/>
              </a:rPr>
              <a:t>Chủ yếu scheduling Pod + khởi động runtime Python.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566160"/>
            <a:ext cx="5532120" cy="1965960"/>
          </a:xfrm>
          <a:prstGeom prst="roundRect">
            <a:avLst>
              <a:gd name="adj" fmla="val 8000"/>
            </a:avLst>
          </a:prstGeom>
          <a:solidFill>
            <a:srgbClr val="122E56"/>
          </a:solidFill>
          <a:ln w="12700">
            <a:solidFill>
              <a:srgbClr val="1E4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886200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B8E8"/>
                </a:solidFill>
                <a:latin typeface="Calibri"/>
              </a:rPr>
              <a:t>Autoscaling xử lý burst tốt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480560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6FC"/>
                </a:solidFill>
                <a:latin typeface="Calibri"/>
              </a:rPr>
              <a:t>Trong giới hạn max-scale=5, P99 vẫn dưới ngưỡng nghiệm thu.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566160"/>
            <a:ext cx="5532120" cy="1965960"/>
          </a:xfrm>
          <a:prstGeom prst="roundRect">
            <a:avLst>
              <a:gd name="adj" fmla="val 8000"/>
            </a:avLst>
          </a:prstGeom>
          <a:solidFill>
            <a:srgbClr val="122E56"/>
          </a:solidFill>
          <a:ln w="12700">
            <a:solidFill>
              <a:srgbClr val="1E4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59" y="3886200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B8E8"/>
                </a:solidFill>
                <a:latin typeface="Calibri"/>
              </a:rPr>
              <a:t>Cold vs Warm hỗ trợ SLA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4480560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6FC"/>
                </a:solidFill>
                <a:latin typeface="Calibri"/>
              </a:rPr>
              <a:t>Khoảng cách latency giúp đặt ngưỡng / chiến lược pre-warm.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DB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8B8D0"/>
                </a:solidFill>
                <a:latin typeface="Calibri"/>
              </a:rPr>
              <a:t>YOLO Serverless · Weight-Sharing · NT2204.CH201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8B8D0"/>
                </a:solidFill>
                <a:latin typeface="Calibri"/>
              </a:rPr>
              <a:t>15/17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Hạn chế &amp; hướng phát triển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486400" cy="4572000"/>
          </a:xfrm>
          <a:prstGeom prst="roundRect">
            <a:avLst>
              <a:gd name="adj" fmla="val 8000"/>
            </a:avLst>
          </a:prstGeom>
          <a:solidFill>
            <a:srgbClr val="122E56"/>
          </a:solidFill>
          <a:ln w="12700">
            <a:solidFill>
              <a:srgbClr val="1E4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A54A"/>
                </a:solidFill>
                <a:latin typeface="Calibri"/>
              </a:rPr>
              <a:t>Hạn chế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2F6FC"/>
                </a:solidFill>
                <a:latin typeface="Calibri"/>
              </a:rPr>
              <a:t>•  Minikube single-node — chưa đa node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F2F6FC"/>
                </a:solidFill>
                <a:latin typeface="Calibri"/>
              </a:rPr>
              <a:t>•  tmpfs 4GB cấu hình tĩnh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F2F6FC"/>
                </a:solidFill>
                <a:latin typeface="Calibri"/>
              </a:rPr>
              <a:t>•  Cold-start còn ~17s sau tối ưu I/O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F2F6FC"/>
                </a:solidFill>
                <a:latin typeface="Calibri"/>
              </a:rPr>
              <a:t>•  Mẫu n=3 mang tính minh họa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440680" cy="4572000"/>
          </a:xfrm>
          <a:prstGeom prst="roundRect">
            <a:avLst>
              <a:gd name="adj" fmla="val 8000"/>
            </a:avLst>
          </a:prstGeom>
          <a:solidFill>
            <a:srgbClr val="122E56"/>
          </a:solidFill>
          <a:ln w="12700">
            <a:solidFill>
              <a:srgbClr val="1E4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EE0A8"/>
                </a:solidFill>
                <a:latin typeface="Calibri"/>
              </a:rPr>
              <a:t>Hướng phát triển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9456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2F6FC"/>
                </a:solidFill>
                <a:latin typeface="Calibri"/>
              </a:rPr>
              <a:t>•  Cache phân tán: Alluxio multi-node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F2F6FC"/>
                </a:solidFill>
                <a:latin typeface="Calibri"/>
              </a:rPr>
              <a:t>•  Nén model: Quantization / Pruning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F2F6FC"/>
                </a:solidFill>
                <a:latin typeface="Calibri"/>
              </a:rPr>
              <a:t>•  Pre-warming theo dự báo lưu lượng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F2F6FC"/>
                </a:solidFill>
                <a:latin typeface="Calibri"/>
              </a:rPr>
              <a:t>•  Engine: Triton / ONNX Runtime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DB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8B8D0"/>
                </a:solidFill>
                <a:latin typeface="Calibri"/>
              </a:rPr>
              <a:t>YOLO Serverless · Weight-Sharing · NT2204.CH201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8B8D0"/>
                </a:solidFill>
                <a:latin typeface="Calibri"/>
              </a:rPr>
              <a:t>16/17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Kết luận — take-home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DB8E8"/>
                </a:solidFill>
                <a:latin typeface="Calibri"/>
              </a:rPr>
              <a:t>Ba điểm cần nhớ khi rời phòng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11155680" cy="1280160"/>
          </a:xfrm>
          <a:prstGeom prst="roundRect">
            <a:avLst>
              <a:gd name="adj" fmla="val 8000"/>
            </a:avLst>
          </a:prstGeom>
          <a:solidFill>
            <a:srgbClr val="122E56"/>
          </a:solidFill>
          <a:ln w="12700">
            <a:solidFill>
              <a:srgbClr val="1E4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DB8E8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6459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2F6FC"/>
                </a:solidFill>
                <a:latin typeface="Calibri"/>
              </a:rPr>
              <a:t>Weight-Sharing qua RAM giảm 76.9% P99 cold-start
(75.00s → 17.35s) trên cùng hạ tầng Serverless.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834640"/>
            <a:ext cx="11155680" cy="1280160"/>
          </a:xfrm>
          <a:prstGeom prst="roundRect">
            <a:avLst>
              <a:gd name="adj" fmla="val 8000"/>
            </a:avLst>
          </a:prstGeom>
          <a:solidFill>
            <a:srgbClr val="122E56"/>
          </a:solidFill>
          <a:ln w="12700">
            <a:solidFill>
              <a:srgbClr val="1E4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1546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DB8E8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1089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2F6FC"/>
                </a:solidFill>
                <a:latin typeface="Calibri"/>
              </a:rPr>
              <a:t>Sau tối ưu I/O, nút thắt chuyển sang scheduling
và runtime Python — hướng tối ưu tiếp theo.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297680"/>
            <a:ext cx="11155680" cy="1280160"/>
          </a:xfrm>
          <a:prstGeom prst="roundRect">
            <a:avLst>
              <a:gd name="adj" fmla="val 8000"/>
            </a:avLst>
          </a:prstGeom>
          <a:solidFill>
            <a:srgbClr val="122E56"/>
          </a:solidFill>
          <a:ln w="12700">
            <a:solidFill>
              <a:srgbClr val="1E4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46177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DB8E8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5720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2F6FC"/>
                </a:solidFill>
                <a:latin typeface="Calibri"/>
              </a:rPr>
              <a:t>Pipeline đo k6 + Prometheus tái lập được,
hỗ trợ đánh giá SLA Cold / Warm rõ ràng.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DB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Hỏi &amp; Đáp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3DB8E8"/>
                </a:solidFill>
                <a:latin typeface="Calibri"/>
              </a:rPr>
              <a:t>Xin cảm ơn Thầy/Cô và các bạn đã lắng nghe!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B8D0"/>
                </a:solidFill>
                <a:latin typeface="Calibri"/>
              </a:rPr>
              <a:t>Ngô Quang Huy  ·  NT2204.CH201  ·  YOLO Serverless Weight-Sharing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8B8D0"/>
                </a:solidFill>
                <a:latin typeface="Calibri"/>
              </a:rPr>
              <a:t>YOLO Serverless · Weight-Sharing · NT2204.CH201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8B8D0"/>
                </a:solidFill>
                <a:latin typeface="Calibri"/>
              </a:rPr>
              <a:t>17/17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1119</Words>
  <Application>Microsoft Macintosh PowerPoint</Application>
  <PresentationFormat>Widescreen</PresentationFormat>
  <Paragraphs>186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Office User</cp:lastModifiedBy>
  <cp:revision>2</cp:revision>
  <dcterms:created xsi:type="dcterms:W3CDTF">2013-01-27T09:14:16Z</dcterms:created>
  <dcterms:modified xsi:type="dcterms:W3CDTF">2026-07-23T13:26:28Z</dcterms:modified>
  <cp:category/>
</cp:coreProperties>
</file>