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35317" y="1941314"/>
            <a:ext cx="10921365" cy="819150"/>
          </a:xfrm>
          <a:prstGeom prst="rect">
            <a:avLst/>
          </a:prstGeom>
          <a:noFill/>
        </p:spPr>
        <p:txBody>
          <a:bodyPr wrap="square" lIns="0" rIns="0" tIns="0" bIns="0" anchor="t">
            <a:spAutoFit/>
          </a:bodyPr>
          <a:lstStyle/>
          <a:p>
            <a:pPr algn="ctr"/>
            <a:r>
              <a:rPr b="1" sz="5100" i="0" u="none">
                <a:solidFill>
                  <a:srgbClr val="F8FAFC"/>
                </a:solidFill>
                <a:latin typeface="Merriweather"/>
              </a:rPr>
              <a:t>Hệ Tính Toán Phân Bố Nâng Cao</a:t>
            </a:r>
          </a:p>
        </p:txBody>
      </p:sp>
      <p:sp>
        <p:nvSpPr>
          <p:cNvPr id="4" name="TextBox 3"/>
          <p:cNvSpPr txBox="1"/>
          <p:nvPr/>
        </p:nvSpPr>
        <p:spPr>
          <a:xfrm>
            <a:off x="895350" y="3008114"/>
            <a:ext cx="10401300" cy="396180"/>
          </a:xfrm>
          <a:prstGeom prst="rect">
            <a:avLst/>
          </a:prstGeom>
          <a:noFill/>
        </p:spPr>
        <p:txBody>
          <a:bodyPr wrap="square" lIns="0" rIns="0" tIns="0" bIns="0" anchor="t">
            <a:spAutoFit/>
          </a:bodyPr>
          <a:lstStyle/>
          <a:p>
            <a:pPr algn="ctr">
              <a:lnSpc>
                <a:spcPts val="3120"/>
              </a:lnSpc>
            </a:pPr>
            <a:r>
              <a:rPr b="0" sz="1950" i="0" u="none">
                <a:solidFill>
                  <a:srgbClr val="F8FAFC"/>
                </a:solidFill>
                <a:latin typeface="DM Sans Medium"/>
              </a:rPr>
              <a:t>Báo Cáo Đồ Án Cuối Kỳ</a:t>
            </a:r>
          </a:p>
        </p:txBody>
      </p:sp>
      <p:sp>
        <p:nvSpPr>
          <p:cNvPr id="5" name="TextBox 4"/>
          <p:cNvSpPr txBox="1"/>
          <p:nvPr/>
        </p:nvSpPr>
        <p:spPr>
          <a:xfrm>
            <a:off x="895350" y="3975794"/>
            <a:ext cx="10401300" cy="289470"/>
          </a:xfrm>
          <a:prstGeom prst="rect">
            <a:avLst/>
          </a:prstGeom>
          <a:noFill/>
        </p:spPr>
        <p:txBody>
          <a:bodyPr wrap="square" lIns="0" rIns="0" tIns="0" bIns="0" anchor="t">
            <a:spAutoFit/>
          </a:bodyPr>
          <a:lstStyle/>
          <a:p>
            <a:pPr algn="ctr">
              <a:lnSpc>
                <a:spcPts val="2279"/>
              </a:lnSpc>
            </a:pPr>
            <a:r>
              <a:rPr b="0" sz="1425" i="0" u="none">
                <a:solidFill>
                  <a:srgbClr val="334155"/>
                </a:solidFill>
                <a:latin typeface="DM Sans"/>
              </a:rPr>
              <a:t>Sinh viên thực hiện: Nguyễn Văn A</a:t>
            </a:r>
          </a:p>
        </p:txBody>
      </p:sp>
      <p:sp>
        <p:nvSpPr>
          <p:cNvPr id="6" name="TextBox 5"/>
          <p:cNvSpPr txBox="1"/>
          <p:nvPr/>
        </p:nvSpPr>
        <p:spPr>
          <a:xfrm>
            <a:off x="895350" y="4446240"/>
            <a:ext cx="10401300" cy="289470"/>
          </a:xfrm>
          <a:prstGeom prst="rect">
            <a:avLst/>
          </a:prstGeom>
          <a:noFill/>
        </p:spPr>
        <p:txBody>
          <a:bodyPr wrap="square" lIns="0" rIns="0" tIns="0" bIns="0" anchor="t">
            <a:spAutoFit/>
          </a:bodyPr>
          <a:lstStyle/>
          <a:p>
            <a:pPr algn="ctr">
              <a:lnSpc>
                <a:spcPts val="2279"/>
              </a:lnSpc>
            </a:pPr>
            <a:r>
              <a:rPr b="0" sz="1425" i="0" u="none">
                <a:solidFill>
                  <a:srgbClr val="334155"/>
                </a:solidFill>
                <a:latin typeface="DM Sans"/>
              </a:rPr>
              <a:t>Giảng viên hướng dẫn: TS. Trần Văn 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057650" y="2441227"/>
            <a:ext cx="4280535" cy="714375"/>
          </a:xfrm>
          <a:prstGeom prst="rect">
            <a:avLst/>
          </a:prstGeom>
          <a:noFill/>
        </p:spPr>
        <p:txBody>
          <a:bodyPr wrap="square" lIns="0" rIns="0" tIns="0" bIns="0" anchor="t">
            <a:spAutoFit/>
          </a:bodyPr>
          <a:lstStyle/>
          <a:p>
            <a:pPr algn="l"/>
            <a:r>
              <a:rPr b="1" sz="4500" i="0" u="none">
                <a:solidFill>
                  <a:srgbClr val="1E3A8A"/>
                </a:solidFill>
                <a:latin typeface="Merriweather"/>
              </a:rPr>
              <a:t>01. Tổng Quan</a:t>
            </a:r>
          </a:p>
        </p:txBody>
      </p:sp>
      <p:sp>
        <p:nvSpPr>
          <p:cNvPr id="4" name="Rectangle 3"/>
          <p:cNvSpPr/>
          <p:nvPr/>
        </p:nvSpPr>
        <p:spPr>
          <a:xfrm>
            <a:off x="5619750" y="3346102"/>
            <a:ext cx="952500" cy="5715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94396" y="3822352"/>
            <a:ext cx="6603206" cy="365670"/>
          </a:xfrm>
          <a:prstGeom prst="rect">
            <a:avLst/>
          </a:prstGeom>
          <a:noFill/>
        </p:spPr>
        <p:txBody>
          <a:bodyPr wrap="square" lIns="0" rIns="0" tIns="0" bIns="0" anchor="t">
            <a:spAutoFit/>
          </a:bodyPr>
          <a:lstStyle/>
          <a:p>
            <a:pPr algn="ctr">
              <a:lnSpc>
                <a:spcPts val="2879"/>
              </a:lnSpc>
            </a:pPr>
            <a:r>
              <a:rPr b="0" sz="1800" i="0" u="none">
                <a:solidFill>
                  <a:srgbClr val="334155"/>
                </a:solidFill>
                <a:latin typeface="DM Sans"/>
              </a:rPr>
              <a:t>Giới thiệu về đề tài, mục tiêu và phạm vi nghiên cứu của đồ án.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1928812"/>
            <a:ext cx="5334000" cy="3810000"/>
          </a:xfrm>
          <a:prstGeom prst="rect">
            <a:avLst/>
          </a:prstGeom>
        </p:spPr>
      </p:pic>
      <p:sp>
        <p:nvSpPr>
          <p:cNvPr id="4" name="TextBox 3"/>
          <p:cNvSpPr txBox="1"/>
          <p:nvPr/>
        </p:nvSpPr>
        <p:spPr>
          <a:xfrm>
            <a:off x="571500" y="2389137"/>
            <a:ext cx="5600700" cy="219075"/>
          </a:xfrm>
          <a:prstGeom prst="rect">
            <a:avLst/>
          </a:prstGeom>
          <a:noFill/>
        </p:spPr>
        <p:txBody>
          <a:bodyPr wrap="square" lIns="0" rIns="0" tIns="0" bIns="0" anchor="t">
            <a:spAutoFit/>
          </a:bodyPr>
          <a:lstStyle/>
          <a:p>
            <a:pPr algn="l"/>
            <a:r>
              <a:rPr b="1" sz="1404" i="0" u="none">
                <a:solidFill>
                  <a:srgbClr val="1E293B"/>
                </a:solidFill>
                <a:latin typeface="Merriweather"/>
              </a:rPr>
              <a:t>Bối cảnh đề tài</a:t>
            </a:r>
          </a:p>
        </p:txBody>
      </p:sp>
      <p:sp>
        <p:nvSpPr>
          <p:cNvPr id="5" name="TextBox 4"/>
          <p:cNvSpPr txBox="1"/>
          <p:nvPr/>
        </p:nvSpPr>
        <p:spPr>
          <a:xfrm>
            <a:off x="571500" y="2789187"/>
            <a:ext cx="5334000" cy="868412"/>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Trong kỷ nguyên Big Data, các hệ thống đơn lẻ không còn đáp ứng được nhu cầu tính toán. Đề tài tập trung vào việc xây dựng hệ thống phân bố tối ưu.</a:t>
            </a:r>
          </a:p>
        </p:txBody>
      </p:sp>
      <p:pic>
        <p:nvPicPr>
          <p:cNvPr id="6" name="Picture 5" descr="image.png"/>
          <p:cNvPicPr>
            <a:picLocks noChangeAspect="1"/>
          </p:cNvPicPr>
          <p:nvPr/>
        </p:nvPicPr>
        <p:blipFill>
          <a:blip r:embed="rId4"/>
          <a:stretch>
            <a:fillRect/>
          </a:stretch>
        </p:blipFill>
        <p:spPr>
          <a:xfrm>
            <a:off x="6286500" y="1928812"/>
            <a:ext cx="5334000" cy="3810000"/>
          </a:xfrm>
          <a:prstGeom prst="rect">
            <a:avLst/>
          </a:prstGeom>
        </p:spPr>
      </p:pic>
      <p:sp>
        <p:nvSpPr>
          <p:cNvPr id="7" name="TextBox 6"/>
          <p:cNvSpPr txBox="1"/>
          <p:nvPr/>
        </p:nvSpPr>
        <p:spPr>
          <a:xfrm>
            <a:off x="952500" y="3838575"/>
            <a:ext cx="4953000" cy="289470"/>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Xử lý dữ liệu quy mô lớn (Large-scale data).</a:t>
            </a:r>
          </a:p>
        </p:txBody>
      </p:sp>
      <p:sp>
        <p:nvSpPr>
          <p:cNvPr id="8" name="TextBox 7"/>
          <p:cNvSpPr txBox="1"/>
          <p:nvPr/>
        </p:nvSpPr>
        <p:spPr>
          <a:xfrm>
            <a:off x="952500" y="4318545"/>
            <a:ext cx="4953000" cy="289470"/>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Đảm bảo tính sẵn sàng cao (High Availability).</a:t>
            </a:r>
          </a:p>
        </p:txBody>
      </p:sp>
      <p:sp>
        <p:nvSpPr>
          <p:cNvPr id="9" name="TextBox 8"/>
          <p:cNvSpPr txBox="1"/>
          <p:nvPr/>
        </p:nvSpPr>
        <p:spPr>
          <a:xfrm>
            <a:off x="952500" y="4798516"/>
            <a:ext cx="4953000" cy="289470"/>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Tối ưu hóa tài nguyên phần cứng hiện có.</a:t>
            </a:r>
          </a:p>
        </p:txBody>
      </p:sp>
      <p:pic>
        <p:nvPicPr>
          <p:cNvPr id="10" name="Picture 9" descr="image.png"/>
          <p:cNvPicPr>
            <a:picLocks noChangeAspect="1"/>
          </p:cNvPicPr>
          <p:nvPr/>
        </p:nvPicPr>
        <p:blipFill>
          <a:blip r:embed="rId5"/>
          <a:stretch>
            <a:fillRect/>
          </a:stretch>
        </p:blipFill>
        <p:spPr>
          <a:xfrm>
            <a:off x="571500" y="3876675"/>
            <a:ext cx="228600" cy="247650"/>
          </a:xfrm>
          <a:prstGeom prst="rect">
            <a:avLst/>
          </a:prstGeom>
        </p:spPr>
      </p:pic>
      <p:pic>
        <p:nvPicPr>
          <p:cNvPr id="11" name="Picture 10" descr="image.png"/>
          <p:cNvPicPr>
            <a:picLocks noChangeAspect="1"/>
          </p:cNvPicPr>
          <p:nvPr/>
        </p:nvPicPr>
        <p:blipFill>
          <a:blip r:embed="rId5"/>
          <a:stretch>
            <a:fillRect/>
          </a:stretch>
        </p:blipFill>
        <p:spPr>
          <a:xfrm>
            <a:off x="571500" y="4356645"/>
            <a:ext cx="228600" cy="247650"/>
          </a:xfrm>
          <a:prstGeom prst="rect">
            <a:avLst/>
          </a:prstGeom>
        </p:spPr>
      </p:pic>
      <p:pic>
        <p:nvPicPr>
          <p:cNvPr id="12" name="Picture 11" descr="image.png"/>
          <p:cNvPicPr>
            <a:picLocks noChangeAspect="1"/>
          </p:cNvPicPr>
          <p:nvPr/>
        </p:nvPicPr>
        <p:blipFill>
          <a:blip r:embed="rId5"/>
          <a:stretch>
            <a:fillRect/>
          </a:stretch>
        </p:blipFill>
        <p:spPr>
          <a:xfrm>
            <a:off x="571500" y="4836616"/>
            <a:ext cx="228600" cy="247650"/>
          </a:xfrm>
          <a:prstGeom prst="rect">
            <a:avLst/>
          </a:prstGeom>
        </p:spPr>
      </p:pic>
      <p:sp>
        <p:nvSpPr>
          <p:cNvPr id="13" name="TextBox 12"/>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Giới Thiệu &amp; Bài Toán</a:t>
            </a:r>
          </a:p>
        </p:txBody>
      </p:sp>
      <p:sp>
        <p:nvSpPr>
          <p:cNvPr id="14" name="Rectangle 13"/>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83358"/>
            <a:ext cx="5334000" cy="2500907"/>
          </a:xfrm>
          <a:prstGeom prst="rect">
            <a:avLst/>
          </a:prstGeom>
        </p:spPr>
      </p:pic>
      <p:pic>
        <p:nvPicPr>
          <p:cNvPr id="4" name="Picture 3" descr="image.png"/>
          <p:cNvPicPr>
            <a:picLocks noChangeAspect="1"/>
          </p:cNvPicPr>
          <p:nvPr/>
        </p:nvPicPr>
        <p:blipFill>
          <a:blip r:embed="rId4"/>
          <a:stretch>
            <a:fillRect/>
          </a:stretch>
        </p:blipFill>
        <p:spPr>
          <a:xfrm>
            <a:off x="6286500" y="2583358"/>
            <a:ext cx="5334000" cy="2500907"/>
          </a:xfrm>
          <a:prstGeom prst="rect">
            <a:avLst/>
          </a:prstGeom>
        </p:spPr>
      </p:pic>
      <p:sp>
        <p:nvSpPr>
          <p:cNvPr id="5" name="TextBox 4"/>
          <p:cNvSpPr txBox="1"/>
          <p:nvPr/>
        </p:nvSpPr>
        <p:spPr>
          <a:xfrm>
            <a:off x="952500" y="2964358"/>
            <a:ext cx="4800600" cy="219075"/>
          </a:xfrm>
          <a:prstGeom prst="rect">
            <a:avLst/>
          </a:prstGeom>
          <a:noFill/>
        </p:spPr>
        <p:txBody>
          <a:bodyPr wrap="square" lIns="180975" rIns="0" tIns="0" bIns="0" anchor="t">
            <a:spAutoFit/>
          </a:bodyPr>
          <a:lstStyle/>
          <a:p>
            <a:pPr algn="l"/>
            <a:r>
              <a:rPr b="1" sz="1404" i="0" u="none">
                <a:solidFill>
                  <a:srgbClr val="06B6D4"/>
                </a:solidFill>
                <a:latin typeface="Merriweather"/>
              </a:rPr>
              <a:t>Hiệu Năng &amp; Quy Mô</a:t>
            </a:r>
          </a:p>
        </p:txBody>
      </p:sp>
      <p:sp>
        <p:nvSpPr>
          <p:cNvPr id="6" name="TextBox 5"/>
          <p:cNvSpPr txBox="1"/>
          <p:nvPr/>
        </p:nvSpPr>
        <p:spPr>
          <a:xfrm>
            <a:off x="952500" y="3364408"/>
            <a:ext cx="4572000" cy="1157882"/>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Khả năng mở rộng ngang (Horizontal Scaling) cho phép thêm các node mới vào hệ thống mà không cần dừng hoạt động, đáp ứng tải lượng người dùng tăng đột biến.</a:t>
            </a:r>
          </a:p>
        </p:txBody>
      </p:sp>
      <p:sp>
        <p:nvSpPr>
          <p:cNvPr id="7" name="TextBox 6"/>
          <p:cNvSpPr txBox="1"/>
          <p:nvPr/>
        </p:nvSpPr>
        <p:spPr>
          <a:xfrm>
            <a:off x="6667500" y="2964358"/>
            <a:ext cx="4800600" cy="219075"/>
          </a:xfrm>
          <a:prstGeom prst="rect">
            <a:avLst/>
          </a:prstGeom>
          <a:noFill/>
        </p:spPr>
        <p:txBody>
          <a:bodyPr wrap="square" lIns="180975" rIns="0" tIns="0" bIns="0" anchor="t">
            <a:spAutoFit/>
          </a:bodyPr>
          <a:lstStyle/>
          <a:p>
            <a:pPr algn="l"/>
            <a:r>
              <a:rPr b="1" sz="1404" i="0" u="none">
                <a:solidFill>
                  <a:srgbClr val="06B6D4"/>
                </a:solidFill>
                <a:latin typeface="Merriweather"/>
              </a:rPr>
              <a:t>Tính Chịu Lỗi</a:t>
            </a:r>
          </a:p>
        </p:txBody>
      </p:sp>
      <p:sp>
        <p:nvSpPr>
          <p:cNvPr id="8" name="TextBox 7"/>
          <p:cNvSpPr txBox="1"/>
          <p:nvPr/>
        </p:nvSpPr>
        <p:spPr>
          <a:xfrm>
            <a:off x="6667500" y="3364408"/>
            <a:ext cx="4572000" cy="868412"/>
          </a:xfrm>
          <a:prstGeom prst="rect">
            <a:avLst/>
          </a:prstGeom>
          <a:noFill/>
        </p:spPr>
        <p:txBody>
          <a:bodyPr wrap="square" lIns="0" rIns="0" tIns="0" bIns="0" anchor="t">
            <a:spAutoFit/>
          </a:bodyPr>
          <a:lstStyle/>
          <a:p>
            <a:pPr algn="l">
              <a:lnSpc>
                <a:spcPts val="2279"/>
              </a:lnSpc>
            </a:pPr>
            <a:r>
              <a:rPr b="0" sz="1425" i="0" u="none">
                <a:solidFill>
                  <a:srgbClr val="CBD5E1"/>
                </a:solidFill>
                <a:latin typeface="DM Sans"/>
              </a:rPr>
              <a:t>Hệ thống phải tiếp tục vận hành ngay cả khi một hoặc nhiều node gặp sự cố (Fault Tolerance) thông qua các cơ chế nhân bản và đồng thuận.</a:t>
            </a:r>
          </a:p>
        </p:txBody>
      </p:sp>
      <p:pic>
        <p:nvPicPr>
          <p:cNvPr id="9" name="Picture 8" descr="image.png"/>
          <p:cNvPicPr>
            <a:picLocks noChangeAspect="1"/>
          </p:cNvPicPr>
          <p:nvPr/>
        </p:nvPicPr>
        <p:blipFill>
          <a:blip r:embed="rId5"/>
          <a:stretch>
            <a:fillRect/>
          </a:stretch>
        </p:blipFill>
        <p:spPr>
          <a:xfrm>
            <a:off x="952500" y="2983408"/>
            <a:ext cx="180975" cy="178296"/>
          </a:xfrm>
          <a:prstGeom prst="rect">
            <a:avLst/>
          </a:prstGeom>
        </p:spPr>
      </p:pic>
      <p:pic>
        <p:nvPicPr>
          <p:cNvPr id="10" name="Picture 9" descr="image.png"/>
          <p:cNvPicPr>
            <a:picLocks noChangeAspect="1"/>
          </p:cNvPicPr>
          <p:nvPr/>
        </p:nvPicPr>
        <p:blipFill>
          <a:blip r:embed="rId6"/>
          <a:stretch>
            <a:fillRect/>
          </a:stretch>
        </p:blipFill>
        <p:spPr>
          <a:xfrm>
            <a:off x="6667500" y="2983408"/>
            <a:ext cx="180975" cy="178296"/>
          </a:xfrm>
          <a:prstGeom prst="rect">
            <a:avLst/>
          </a:prstGeom>
        </p:spPr>
      </p:pic>
      <p:sp>
        <p:nvSpPr>
          <p:cNvPr id="11" name="TextBox 10"/>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Động Lực Phát Triển</a:t>
            </a:r>
          </a:p>
        </p:txBody>
      </p:sp>
      <p:sp>
        <p:nvSpPr>
          <p:cNvPr id="12" name="Rectangle 11"/>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18457"/>
            <a:ext cx="3492400" cy="2830562"/>
          </a:xfrm>
          <a:prstGeom prst="rect">
            <a:avLst/>
          </a:prstGeom>
        </p:spPr>
      </p:pic>
      <p:pic>
        <p:nvPicPr>
          <p:cNvPr id="4" name="Picture 3" descr="image.png"/>
          <p:cNvPicPr>
            <a:picLocks noChangeAspect="1"/>
          </p:cNvPicPr>
          <p:nvPr/>
        </p:nvPicPr>
        <p:blipFill>
          <a:blip r:embed="rId4"/>
          <a:stretch>
            <a:fillRect/>
          </a:stretch>
        </p:blipFill>
        <p:spPr>
          <a:xfrm>
            <a:off x="4349650" y="2418457"/>
            <a:ext cx="3492549" cy="2830562"/>
          </a:xfrm>
          <a:prstGeom prst="rect">
            <a:avLst/>
          </a:prstGeom>
        </p:spPr>
      </p:pic>
      <p:pic>
        <p:nvPicPr>
          <p:cNvPr id="5" name="Picture 4" descr="image.png"/>
          <p:cNvPicPr>
            <a:picLocks noChangeAspect="1"/>
          </p:cNvPicPr>
          <p:nvPr/>
        </p:nvPicPr>
        <p:blipFill>
          <a:blip r:embed="rId3"/>
          <a:stretch>
            <a:fillRect/>
          </a:stretch>
        </p:blipFill>
        <p:spPr>
          <a:xfrm>
            <a:off x="8127950" y="2418457"/>
            <a:ext cx="3492400" cy="2830562"/>
          </a:xfrm>
          <a:prstGeom prst="rect">
            <a:avLst/>
          </a:prstGeom>
        </p:spPr>
      </p:pic>
      <p:sp>
        <p:nvSpPr>
          <p:cNvPr id="6" name="TextBox 5"/>
          <p:cNvSpPr txBox="1"/>
          <p:nvPr/>
        </p:nvSpPr>
        <p:spPr>
          <a:xfrm>
            <a:off x="857250" y="3437632"/>
            <a:ext cx="3066945" cy="295275"/>
          </a:xfrm>
          <a:prstGeom prst="rect">
            <a:avLst/>
          </a:prstGeom>
          <a:noFill/>
        </p:spPr>
        <p:txBody>
          <a:bodyPr wrap="square" lIns="0" rIns="0" tIns="0" bIns="0" anchor="t">
            <a:spAutoFit/>
          </a:bodyPr>
          <a:lstStyle/>
          <a:p>
            <a:pPr algn="l"/>
            <a:r>
              <a:rPr b="1" sz="1800" i="0" u="none">
                <a:solidFill>
                  <a:srgbClr val="0F172A"/>
                </a:solidFill>
                <a:latin typeface="Merriweather"/>
              </a:rPr>
              <a:t>Dị bản (Heterogeneity)</a:t>
            </a:r>
          </a:p>
        </p:txBody>
      </p:sp>
      <p:sp>
        <p:nvSpPr>
          <p:cNvPr id="7" name="TextBox 6"/>
          <p:cNvSpPr txBox="1"/>
          <p:nvPr/>
        </p:nvSpPr>
        <p:spPr>
          <a:xfrm>
            <a:off x="857250" y="3913882"/>
            <a:ext cx="2920900" cy="868412"/>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Sự khác biệt về phần cứng, hệ điều hành và giao thức mạng giữa các node thành phần.</a:t>
            </a:r>
          </a:p>
        </p:txBody>
      </p:sp>
      <p:sp>
        <p:nvSpPr>
          <p:cNvPr id="8" name="TextBox 7"/>
          <p:cNvSpPr txBox="1"/>
          <p:nvPr/>
        </p:nvSpPr>
        <p:spPr>
          <a:xfrm>
            <a:off x="4635400" y="3437632"/>
            <a:ext cx="3067102" cy="295275"/>
          </a:xfrm>
          <a:prstGeom prst="rect">
            <a:avLst/>
          </a:prstGeom>
          <a:noFill/>
        </p:spPr>
        <p:txBody>
          <a:bodyPr wrap="square" lIns="0" rIns="0" tIns="0" bIns="0" anchor="t">
            <a:spAutoFit/>
          </a:bodyPr>
          <a:lstStyle/>
          <a:p>
            <a:pPr algn="l"/>
            <a:r>
              <a:rPr b="1" sz="1800" i="0" u="none">
                <a:solidFill>
                  <a:srgbClr val="0F172A"/>
                </a:solidFill>
                <a:latin typeface="Merriweather"/>
              </a:rPr>
              <a:t>Tính Trong Suốt</a:t>
            </a:r>
          </a:p>
        </p:txBody>
      </p:sp>
      <p:sp>
        <p:nvSpPr>
          <p:cNvPr id="9" name="TextBox 8"/>
          <p:cNvSpPr txBox="1"/>
          <p:nvPr/>
        </p:nvSpPr>
        <p:spPr>
          <a:xfrm>
            <a:off x="4635400" y="3913882"/>
            <a:ext cx="2921049" cy="868412"/>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Người dùng phải cảm nhận hệ thống như một thực thể duy nhất dù tài nguyên nằm rải rác.</a:t>
            </a:r>
          </a:p>
        </p:txBody>
      </p:sp>
      <p:sp>
        <p:nvSpPr>
          <p:cNvPr id="10" name="TextBox 9"/>
          <p:cNvSpPr txBox="1"/>
          <p:nvPr/>
        </p:nvSpPr>
        <p:spPr>
          <a:xfrm>
            <a:off x="8413700" y="3437632"/>
            <a:ext cx="3066945" cy="295275"/>
          </a:xfrm>
          <a:prstGeom prst="rect">
            <a:avLst/>
          </a:prstGeom>
          <a:noFill/>
        </p:spPr>
        <p:txBody>
          <a:bodyPr wrap="square" lIns="0" rIns="0" tIns="0" bIns="0" anchor="t">
            <a:spAutoFit/>
          </a:bodyPr>
          <a:lstStyle/>
          <a:p>
            <a:pPr algn="l"/>
            <a:r>
              <a:rPr b="1" sz="1800" i="0" u="none">
                <a:solidFill>
                  <a:srgbClr val="0F172A"/>
                </a:solidFill>
                <a:latin typeface="Merriweather"/>
              </a:rPr>
              <a:t>Bảo Mật</a:t>
            </a:r>
          </a:p>
        </p:txBody>
      </p:sp>
      <p:sp>
        <p:nvSpPr>
          <p:cNvPr id="11" name="TextBox 10"/>
          <p:cNvSpPr txBox="1"/>
          <p:nvPr/>
        </p:nvSpPr>
        <p:spPr>
          <a:xfrm>
            <a:off x="8413700" y="3913882"/>
            <a:ext cx="2920900" cy="868412"/>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Đảm bảo an toàn dữ liệu trên đường truyền và xác thực giữa các thành phần phân bố.</a:t>
            </a:r>
          </a:p>
        </p:txBody>
      </p:sp>
      <p:pic>
        <p:nvPicPr>
          <p:cNvPr id="12" name="Picture 11" descr="image.png"/>
          <p:cNvPicPr>
            <a:picLocks noChangeAspect="1"/>
          </p:cNvPicPr>
          <p:nvPr/>
        </p:nvPicPr>
        <p:blipFill>
          <a:blip r:embed="rId5"/>
          <a:stretch>
            <a:fillRect/>
          </a:stretch>
        </p:blipFill>
        <p:spPr>
          <a:xfrm>
            <a:off x="857250" y="2799457"/>
            <a:ext cx="428625" cy="381000"/>
          </a:xfrm>
          <a:prstGeom prst="rect">
            <a:avLst/>
          </a:prstGeom>
        </p:spPr>
      </p:pic>
      <p:pic>
        <p:nvPicPr>
          <p:cNvPr id="13" name="Picture 12" descr="image.png"/>
          <p:cNvPicPr>
            <a:picLocks noChangeAspect="1"/>
          </p:cNvPicPr>
          <p:nvPr/>
        </p:nvPicPr>
        <p:blipFill>
          <a:blip r:embed="rId6"/>
          <a:stretch>
            <a:fillRect/>
          </a:stretch>
        </p:blipFill>
        <p:spPr>
          <a:xfrm>
            <a:off x="4635400" y="2799457"/>
            <a:ext cx="476250" cy="381000"/>
          </a:xfrm>
          <a:prstGeom prst="rect">
            <a:avLst/>
          </a:prstGeom>
        </p:spPr>
      </p:pic>
      <p:pic>
        <p:nvPicPr>
          <p:cNvPr id="14" name="Picture 13" descr="image.png"/>
          <p:cNvPicPr>
            <a:picLocks noChangeAspect="1"/>
          </p:cNvPicPr>
          <p:nvPr/>
        </p:nvPicPr>
        <p:blipFill>
          <a:blip r:embed="rId7"/>
          <a:stretch>
            <a:fillRect/>
          </a:stretch>
        </p:blipFill>
        <p:spPr>
          <a:xfrm>
            <a:off x="8413700" y="2799457"/>
            <a:ext cx="333375" cy="381000"/>
          </a:xfrm>
          <a:prstGeom prst="rect">
            <a:avLst/>
          </a:prstGeom>
        </p:spPr>
      </p:pic>
      <p:sp>
        <p:nvSpPr>
          <p:cNvPr id="15" name="TextBox 14"/>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Thách Thức Hệ Phân Bố</a:t>
            </a:r>
          </a:p>
        </p:txBody>
      </p:sp>
      <p:sp>
        <p:nvSpPr>
          <p:cNvPr id="16" name="Rectangle 15"/>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62000" y="571500"/>
            <a:ext cx="5000625" cy="523875"/>
          </a:xfrm>
          <a:prstGeom prst="rect">
            <a:avLst/>
          </a:prstGeom>
          <a:noFill/>
        </p:spPr>
        <p:txBody>
          <a:bodyPr wrap="square" lIns="0" rIns="0" tIns="0" bIns="0" anchor="t">
            <a:spAutoFit/>
          </a:bodyPr>
          <a:lstStyle/>
          <a:p>
            <a:pPr algn="l"/>
            <a:r>
              <a:rPr b="1" sz="3300" i="0" u="none">
                <a:solidFill>
                  <a:srgbClr val="0F172A"/>
                </a:solidFill>
                <a:latin typeface="Merriweather"/>
              </a:rPr>
              <a:t>Kiến Trúc Hệ Thống</a:t>
            </a:r>
          </a:p>
        </p:txBody>
      </p:sp>
      <p:sp>
        <p:nvSpPr>
          <p:cNvPr id="4" name="Rectangle 3"/>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2381398"/>
            <a:ext cx="5200650" cy="219075"/>
          </a:xfrm>
          <a:prstGeom prst="rect">
            <a:avLst/>
          </a:prstGeom>
          <a:noFill/>
        </p:spPr>
        <p:txBody>
          <a:bodyPr wrap="square" lIns="0" rIns="0" tIns="0" bIns="0" anchor="t">
            <a:spAutoFit/>
          </a:bodyPr>
          <a:lstStyle/>
          <a:p>
            <a:pPr algn="l"/>
            <a:r>
              <a:rPr b="1" sz="1404" i="0" u="none">
                <a:solidFill>
                  <a:srgbClr val="1E293B"/>
                </a:solidFill>
                <a:latin typeface="Merriweather"/>
              </a:rPr>
              <a:t>Mô hình Microservices</a:t>
            </a:r>
          </a:p>
        </p:txBody>
      </p:sp>
      <p:sp>
        <p:nvSpPr>
          <p:cNvPr id="6" name="TextBox 5"/>
          <p:cNvSpPr txBox="1"/>
          <p:nvPr/>
        </p:nvSpPr>
        <p:spPr>
          <a:xfrm>
            <a:off x="571500" y="2781448"/>
            <a:ext cx="4953000" cy="578941"/>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Hệ thống được thiết kế theo kiến trúc hướng dịch vụ, cho phép mỗi thành phần phát triển và triển khai độc lập.</a:t>
            </a:r>
          </a:p>
        </p:txBody>
      </p:sp>
      <p:sp>
        <p:nvSpPr>
          <p:cNvPr id="7" name="TextBox 6"/>
          <p:cNvSpPr txBox="1"/>
          <p:nvPr/>
        </p:nvSpPr>
        <p:spPr>
          <a:xfrm>
            <a:off x="952500" y="3693765"/>
            <a:ext cx="4572000" cy="289470"/>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API Gateway điều phối luồng.</a:t>
            </a:r>
          </a:p>
        </p:txBody>
      </p:sp>
      <p:sp>
        <p:nvSpPr>
          <p:cNvPr id="8" name="TextBox 7"/>
          <p:cNvSpPr txBox="1"/>
          <p:nvPr/>
        </p:nvSpPr>
        <p:spPr>
          <a:xfrm>
            <a:off x="952500" y="4173735"/>
            <a:ext cx="4572000" cy="289470"/>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Cơ sở dữ liệu phân tán (Sharding).</a:t>
            </a:r>
          </a:p>
        </p:txBody>
      </p:sp>
      <p:sp>
        <p:nvSpPr>
          <p:cNvPr id="9" name="TextBox 8"/>
          <p:cNvSpPr txBox="1"/>
          <p:nvPr/>
        </p:nvSpPr>
        <p:spPr>
          <a:xfrm>
            <a:off x="952500" y="4653706"/>
            <a:ext cx="4572000" cy="289470"/>
          </a:xfrm>
          <a:prstGeom prst="rect">
            <a:avLst/>
          </a:prstGeom>
          <a:noFill/>
        </p:spPr>
        <p:txBody>
          <a:bodyPr wrap="square" lIns="0" rIns="0" tIns="0" bIns="0" anchor="t">
            <a:spAutoFit/>
          </a:bodyPr>
          <a:lstStyle/>
          <a:p>
            <a:pPr algn="l">
              <a:lnSpc>
                <a:spcPts val="2279"/>
              </a:lnSpc>
            </a:pPr>
            <a:r>
              <a:rPr b="0" sz="1425" i="0" u="none">
                <a:solidFill>
                  <a:srgbClr val="334155"/>
                </a:solidFill>
                <a:latin typeface="DM Sans"/>
              </a:rPr>
              <a:t>Service Discovery &amp; Load Balancing.</a:t>
            </a:r>
          </a:p>
        </p:txBody>
      </p:sp>
      <p:pic>
        <p:nvPicPr>
          <p:cNvPr id="10" name="Picture 9" descr="image.png"/>
          <p:cNvPicPr>
            <a:picLocks noChangeAspect="1"/>
          </p:cNvPicPr>
          <p:nvPr/>
        </p:nvPicPr>
        <p:blipFill>
          <a:blip r:embed="rId3"/>
          <a:stretch>
            <a:fillRect/>
          </a:stretch>
        </p:blipFill>
        <p:spPr>
          <a:xfrm>
            <a:off x="571500" y="3731865"/>
            <a:ext cx="228600" cy="247650"/>
          </a:xfrm>
          <a:prstGeom prst="rect">
            <a:avLst/>
          </a:prstGeom>
        </p:spPr>
      </p:pic>
      <p:pic>
        <p:nvPicPr>
          <p:cNvPr id="11" name="Picture 10" descr="image.png"/>
          <p:cNvPicPr>
            <a:picLocks noChangeAspect="1"/>
          </p:cNvPicPr>
          <p:nvPr/>
        </p:nvPicPr>
        <p:blipFill>
          <a:blip r:embed="rId4"/>
          <a:stretch>
            <a:fillRect/>
          </a:stretch>
        </p:blipFill>
        <p:spPr>
          <a:xfrm>
            <a:off x="571500" y="4211835"/>
            <a:ext cx="200025" cy="247650"/>
          </a:xfrm>
          <a:prstGeom prst="rect">
            <a:avLst/>
          </a:prstGeom>
        </p:spPr>
      </p:pic>
      <p:pic>
        <p:nvPicPr>
          <p:cNvPr id="12" name="Picture 11" descr="image.png"/>
          <p:cNvPicPr>
            <a:picLocks noChangeAspect="1"/>
          </p:cNvPicPr>
          <p:nvPr/>
        </p:nvPicPr>
        <p:blipFill>
          <a:blip r:embed="rId5"/>
          <a:stretch>
            <a:fillRect/>
          </a:stretch>
        </p:blipFill>
        <p:spPr>
          <a:xfrm>
            <a:off x="571500" y="4691806"/>
            <a:ext cx="285750" cy="247650"/>
          </a:xfrm>
          <a:prstGeom prst="rect">
            <a:avLst/>
          </a:prstGeom>
        </p:spPr>
      </p:pic>
      <p:pic>
        <p:nvPicPr>
          <p:cNvPr id="13" name="Picture 12" descr="image.png"/>
          <p:cNvPicPr>
            <a:picLocks noChangeAspect="1"/>
          </p:cNvPicPr>
          <p:nvPr/>
        </p:nvPicPr>
        <p:blipFill>
          <a:blip r:embed="rId6"/>
          <a:stretch>
            <a:fillRect/>
          </a:stretch>
        </p:blipFill>
        <p:spPr>
          <a:xfrm>
            <a:off x="6096000" y="0"/>
            <a:ext cx="6096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333500" y="2660600"/>
            <a:ext cx="10287000" cy="578941"/>
          </a:xfrm>
          <a:prstGeom prst="rect">
            <a:avLst/>
          </a:prstGeom>
          <a:noFill/>
        </p:spPr>
        <p:txBody>
          <a:bodyPr wrap="square" lIns="0" rIns="0" tIns="0" bIns="0" anchor="t">
            <a:spAutoFit/>
          </a:bodyPr>
          <a:lstStyle/>
          <a:p>
            <a:pPr algn="l">
              <a:lnSpc>
                <a:spcPts val="2279"/>
              </a:lnSpc>
            </a:pPr>
            <a:r>
              <a:rPr b="1" sz="1425" i="0" u="none">
                <a:solidFill>
                  <a:srgbClr val="334155"/>
                </a:solidFill>
                <a:latin typeface="DM Sans"/>
              </a:rPr>
              <a:t>Remote Procedure Call (RPC):</a:t>
            </a:r>
            <a:r>
              <a:rPr b="0" sz="1425" i="0" u="none">
                <a:solidFill>
                  <a:srgbClr val="334155"/>
                </a:solidFill>
                <a:latin typeface="DM Sans"/>
              </a:rPr>
              <a:t> Cho phép gọi hàm từ xa như một hàm cục bộ, giúp đơn giản hóa việc lập trình ứng dụng phân bố.</a:t>
            </a:r>
          </a:p>
        </p:txBody>
      </p:sp>
      <p:sp>
        <p:nvSpPr>
          <p:cNvPr id="4" name="TextBox 3"/>
          <p:cNvSpPr txBox="1"/>
          <p:nvPr/>
        </p:nvSpPr>
        <p:spPr>
          <a:xfrm>
            <a:off x="1333500" y="3430041"/>
            <a:ext cx="10287000" cy="289470"/>
          </a:xfrm>
          <a:prstGeom prst="rect">
            <a:avLst/>
          </a:prstGeom>
          <a:noFill/>
        </p:spPr>
        <p:txBody>
          <a:bodyPr wrap="square" lIns="0" rIns="0" tIns="0" bIns="0" anchor="t">
            <a:spAutoFit/>
          </a:bodyPr>
          <a:lstStyle/>
          <a:p>
            <a:pPr algn="l">
              <a:lnSpc>
                <a:spcPts val="2279"/>
              </a:lnSpc>
            </a:pPr>
            <a:r>
              <a:rPr b="1" sz="1425" i="0" u="none">
                <a:solidFill>
                  <a:srgbClr val="334155"/>
                </a:solidFill>
                <a:latin typeface="DM Sans"/>
              </a:rPr>
              <a:t>Message Passing Interface (MPI):</a:t>
            </a:r>
            <a:r>
              <a:rPr b="0" sz="1425" i="0" u="none">
                <a:solidFill>
                  <a:srgbClr val="334155"/>
                </a:solidFill>
                <a:latin typeface="DM Sans"/>
              </a:rPr>
              <a:t> Giao thức chuẩn cho tính toán hiệu năng cao (HPC), hỗ trợ truyền tin giữa các tiến trình.</a:t>
            </a:r>
          </a:p>
        </p:txBody>
      </p:sp>
      <p:sp>
        <p:nvSpPr>
          <p:cNvPr id="5" name="TextBox 4"/>
          <p:cNvSpPr txBox="1"/>
          <p:nvPr/>
        </p:nvSpPr>
        <p:spPr>
          <a:xfrm>
            <a:off x="1333500" y="3910012"/>
            <a:ext cx="10287000" cy="578941"/>
          </a:xfrm>
          <a:prstGeom prst="rect">
            <a:avLst/>
          </a:prstGeom>
          <a:noFill/>
        </p:spPr>
        <p:txBody>
          <a:bodyPr wrap="square" lIns="0" rIns="0" tIns="0" bIns="0" anchor="t">
            <a:spAutoFit/>
          </a:bodyPr>
          <a:lstStyle/>
          <a:p>
            <a:pPr algn="l">
              <a:lnSpc>
                <a:spcPts val="2279"/>
              </a:lnSpc>
            </a:pPr>
            <a:r>
              <a:rPr b="1" sz="1425" i="0" u="none">
                <a:solidFill>
                  <a:srgbClr val="334155"/>
                </a:solidFill>
                <a:latin typeface="DM Sans"/>
              </a:rPr>
              <a:t>Remote Method Invocation (RMI):</a:t>
            </a:r>
            <a:r>
              <a:rPr b="0" sz="1425" i="0" u="none">
                <a:solidFill>
                  <a:srgbClr val="334155"/>
                </a:solidFill>
                <a:latin typeface="DM Sans"/>
              </a:rPr>
              <a:t> Ứng dụng trong môi trường hướng đối tượng (Java), cho phép tương tác giữa các object từ xa.</a:t>
            </a:r>
          </a:p>
        </p:txBody>
      </p:sp>
      <p:sp>
        <p:nvSpPr>
          <p:cNvPr id="6" name="TextBox 5"/>
          <p:cNvSpPr txBox="1"/>
          <p:nvPr/>
        </p:nvSpPr>
        <p:spPr>
          <a:xfrm>
            <a:off x="1333500" y="4679453"/>
            <a:ext cx="10287000" cy="289470"/>
          </a:xfrm>
          <a:prstGeom prst="rect">
            <a:avLst/>
          </a:prstGeom>
          <a:noFill/>
        </p:spPr>
        <p:txBody>
          <a:bodyPr wrap="square" lIns="0" rIns="0" tIns="0" bIns="0" anchor="t">
            <a:spAutoFit/>
          </a:bodyPr>
          <a:lstStyle/>
          <a:p>
            <a:pPr algn="l">
              <a:lnSpc>
                <a:spcPts val="2279"/>
              </a:lnSpc>
            </a:pPr>
            <a:r>
              <a:rPr b="1" sz="1425" i="0" u="none">
                <a:solidFill>
                  <a:srgbClr val="334155"/>
                </a:solidFill>
                <a:latin typeface="DM Sans"/>
              </a:rPr>
              <a:t>gRPC &amp; Protocol Buffers:</a:t>
            </a:r>
            <a:r>
              <a:rPr b="0" sz="1425" i="0" u="none">
                <a:solidFill>
                  <a:srgbClr val="334155"/>
                </a:solidFill>
                <a:latin typeface="DM Sans"/>
              </a:rPr>
              <a:t> Công nghệ hiện đại của Google giúp tối ưu hóa hiệu năng truyền tải với dữ liệu dạng nhị phân.</a:t>
            </a:r>
          </a:p>
        </p:txBody>
      </p:sp>
      <p:pic>
        <p:nvPicPr>
          <p:cNvPr id="7" name="Picture 6" descr="image.png"/>
          <p:cNvPicPr>
            <a:picLocks noChangeAspect="1"/>
          </p:cNvPicPr>
          <p:nvPr/>
        </p:nvPicPr>
        <p:blipFill>
          <a:blip r:embed="rId3"/>
          <a:stretch>
            <a:fillRect/>
          </a:stretch>
        </p:blipFill>
        <p:spPr>
          <a:xfrm>
            <a:off x="952500" y="2698700"/>
            <a:ext cx="285750" cy="247650"/>
          </a:xfrm>
          <a:prstGeom prst="rect">
            <a:avLst/>
          </a:prstGeom>
        </p:spPr>
      </p:pic>
      <p:pic>
        <p:nvPicPr>
          <p:cNvPr id="8" name="Picture 7" descr="image.png"/>
          <p:cNvPicPr>
            <a:picLocks noChangeAspect="1"/>
          </p:cNvPicPr>
          <p:nvPr/>
        </p:nvPicPr>
        <p:blipFill>
          <a:blip r:embed="rId4"/>
          <a:stretch>
            <a:fillRect/>
          </a:stretch>
        </p:blipFill>
        <p:spPr>
          <a:xfrm>
            <a:off x="952500" y="3468141"/>
            <a:ext cx="228600" cy="247650"/>
          </a:xfrm>
          <a:prstGeom prst="rect">
            <a:avLst/>
          </a:prstGeom>
        </p:spPr>
      </p:pic>
      <p:pic>
        <p:nvPicPr>
          <p:cNvPr id="9" name="Picture 8" descr="image.png"/>
          <p:cNvPicPr>
            <a:picLocks noChangeAspect="1"/>
          </p:cNvPicPr>
          <p:nvPr/>
        </p:nvPicPr>
        <p:blipFill>
          <a:blip r:embed="rId5"/>
          <a:stretch>
            <a:fillRect/>
          </a:stretch>
        </p:blipFill>
        <p:spPr>
          <a:xfrm>
            <a:off x="952500" y="3948112"/>
            <a:ext cx="285750" cy="247650"/>
          </a:xfrm>
          <a:prstGeom prst="rect">
            <a:avLst/>
          </a:prstGeom>
        </p:spPr>
      </p:pic>
      <p:pic>
        <p:nvPicPr>
          <p:cNvPr id="10" name="Picture 9" descr="image.png"/>
          <p:cNvPicPr>
            <a:picLocks noChangeAspect="1"/>
          </p:cNvPicPr>
          <p:nvPr/>
        </p:nvPicPr>
        <p:blipFill>
          <a:blip r:embed="rId6"/>
          <a:stretch>
            <a:fillRect/>
          </a:stretch>
        </p:blipFill>
        <p:spPr>
          <a:xfrm>
            <a:off x="952500" y="4717553"/>
            <a:ext cx="200025" cy="247650"/>
          </a:xfrm>
          <a:prstGeom prst="rect">
            <a:avLst/>
          </a:prstGeom>
        </p:spPr>
      </p:pic>
      <p:sp>
        <p:nvSpPr>
          <p:cNvPr id="11" name="TextBox 10"/>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Mô Hình Giao Tiếp</a:t>
            </a:r>
          </a:p>
        </p:txBody>
      </p:sp>
      <p:sp>
        <p:nvSpPr>
          <p:cNvPr id="12" name="Rectangle 11"/>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571500" y="2471886"/>
          <a:ext cx="11048998" cy="2914203"/>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590353"/>
                <a:gridCol w="2939801"/>
                <a:gridCol w="2459980"/>
                <a:gridCol w="3058864"/>
              </a:tblGrid>
              <a:tr h="582840">
                <a:tc>
                  <a:txBody>
                    <a:bodyPr/>
                    <a:lstStyle/>
                    <a:p>
                      <a:pPr algn="l"/>
                      <a:r>
                        <a:rPr b="1" sz="1425" i="0" u="none">
                          <a:solidFill>
                            <a:srgbClr val="FFFFFF"/>
                          </a:solidFill>
                          <a:latin typeface="DM Sans"/>
                        </a:rPr>
                        <a:t>Đặc điểm</a:t>
                      </a:r>
                    </a:p>
                  </a:txBody>
                  <a:tcPr anchor="ctr" marL="63500" marR="63500" marT="25400" marB="25400">
                    <a:lnL>
                      <a:noFill/>
                    </a:lnL>
                    <a:lnR>
                      <a:noFill/>
                    </a:lnR>
                    <a:lnT>
                      <a:noFill/>
                    </a:lnT>
                    <a:lnB>
                      <a:noFill/>
                    </a:lnB>
                    <a:solidFill>
                      <a:srgbClr val="1E3A8A"/>
                    </a:solidFill>
                  </a:tcPr>
                </a:tc>
                <a:tc>
                  <a:txBody>
                    <a:bodyPr/>
                    <a:lstStyle/>
                    <a:p>
                      <a:pPr algn="l"/>
                      <a:r>
                        <a:rPr b="1" sz="1425" i="0" u="none">
                          <a:solidFill>
                            <a:srgbClr val="FFFFFF"/>
                          </a:solidFill>
                          <a:latin typeface="DM Sans"/>
                        </a:rPr>
                        <a:t>RPC Truyền Thống</a:t>
                      </a:r>
                    </a:p>
                  </a:txBody>
                  <a:tcPr anchor="ctr" marL="63500" marR="63500" marT="25400" marB="25400">
                    <a:lnL>
                      <a:noFill/>
                    </a:lnL>
                    <a:lnR>
                      <a:noFill/>
                    </a:lnR>
                    <a:lnT>
                      <a:noFill/>
                    </a:lnT>
                    <a:lnB>
                      <a:noFill/>
                    </a:lnB>
                    <a:solidFill>
                      <a:srgbClr val="1E3A8A"/>
                    </a:solidFill>
                  </a:tcPr>
                </a:tc>
                <a:tc>
                  <a:txBody>
                    <a:bodyPr/>
                    <a:lstStyle/>
                    <a:p>
                      <a:pPr algn="l"/>
                      <a:r>
                        <a:rPr b="1" sz="1425" i="0" u="none">
                          <a:solidFill>
                            <a:srgbClr val="FFFFFF"/>
                          </a:solidFill>
                          <a:latin typeface="DM Sans"/>
                        </a:rPr>
                        <a:t>gRPC (HTTP/2)</a:t>
                      </a:r>
                    </a:p>
                  </a:txBody>
                  <a:tcPr anchor="ctr" marL="63500" marR="63500" marT="25400" marB="25400">
                    <a:lnL>
                      <a:noFill/>
                    </a:lnL>
                    <a:lnR>
                      <a:noFill/>
                    </a:lnR>
                    <a:lnT>
                      <a:noFill/>
                    </a:lnT>
                    <a:lnB>
                      <a:noFill/>
                    </a:lnB>
                    <a:solidFill>
                      <a:srgbClr val="1E3A8A"/>
                    </a:solidFill>
                  </a:tcPr>
                </a:tc>
                <a:tc>
                  <a:txBody>
                    <a:bodyPr/>
                    <a:lstStyle/>
                    <a:p>
                      <a:pPr algn="l"/>
                      <a:r>
                        <a:rPr b="1" sz="1425" i="0" u="none">
                          <a:solidFill>
                            <a:srgbClr val="FFFFFF"/>
                          </a:solidFill>
                          <a:latin typeface="DM Sans"/>
                        </a:rPr>
                        <a:t>MPI</a:t>
                      </a:r>
                    </a:p>
                  </a:txBody>
                  <a:tcPr anchor="ctr" marL="63500" marR="63500" marT="25400" marB="25400">
                    <a:lnL>
                      <a:noFill/>
                    </a:lnL>
                    <a:lnR>
                      <a:noFill/>
                    </a:lnR>
                    <a:lnT>
                      <a:noFill/>
                    </a:lnT>
                    <a:lnB>
                      <a:noFill/>
                    </a:lnB>
                    <a:solidFill>
                      <a:srgbClr val="1E3A8A"/>
                    </a:solidFill>
                  </a:tcPr>
                </a:tc>
              </a:tr>
              <a:tr h="582840">
                <a:tc>
                  <a:txBody>
                    <a:bodyPr/>
                    <a:lstStyle/>
                    <a:p>
                      <a:pPr algn="l"/>
                      <a:r>
                        <a:rPr b="0" sz="1425" i="0" u="none">
                          <a:solidFill>
                            <a:srgbClr val="334155"/>
                          </a:solidFill>
                          <a:latin typeface="DM Sans"/>
                        </a:rPr>
                        <a:t>Hiệu năng</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Trung bình</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Rất cao</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Tối ưu tính toán</a:t>
                      </a:r>
                    </a:p>
                  </a:txBody>
                  <a:tcPr anchor="ctr" marL="63500" marR="63500" marT="25400" marB="25400">
                    <a:lnL>
                      <a:noFill/>
                    </a:lnL>
                    <a:lnR>
                      <a:noFill/>
                    </a:lnR>
                    <a:lnT>
                      <a:noFill/>
                    </a:lnT>
                    <a:lnB>
                      <a:noFill/>
                    </a:lnB>
                    <a:noFill/>
                  </a:tcPr>
                </a:tc>
              </a:tr>
              <a:tr h="582840">
                <a:tc>
                  <a:txBody>
                    <a:bodyPr/>
                    <a:lstStyle/>
                    <a:p>
                      <a:pPr algn="l"/>
                      <a:r>
                        <a:rPr b="0" sz="1425" i="0" u="none">
                          <a:solidFill>
                            <a:srgbClr val="334155"/>
                          </a:solidFill>
                          <a:latin typeface="DM Sans"/>
                        </a:rPr>
                        <a:t>Độ phức tạp</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Thấp</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Trung bình</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Cao</a:t>
                      </a:r>
                    </a:p>
                  </a:txBody>
                  <a:tcPr anchor="ctr" marL="63500" marR="63500" marT="25400" marB="25400">
                    <a:lnL>
                      <a:noFill/>
                    </a:lnL>
                    <a:lnR>
                      <a:noFill/>
                    </a:lnR>
                    <a:lnT>
                      <a:noFill/>
                    </a:lnT>
                    <a:lnB>
                      <a:noFill/>
                    </a:lnB>
                    <a:noFill/>
                  </a:tcPr>
                </a:tc>
              </a:tr>
              <a:tr h="582840">
                <a:tc>
                  <a:txBody>
                    <a:bodyPr/>
                    <a:lstStyle/>
                    <a:p>
                      <a:pPr algn="l"/>
                      <a:r>
                        <a:rPr b="0" sz="1425" i="0" u="none">
                          <a:solidFill>
                            <a:srgbClr val="334155"/>
                          </a:solidFill>
                          <a:latin typeface="DM Sans"/>
                        </a:rPr>
                        <a:t>Ngôn ngữ hỗ trợ</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Hạn chế</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Đa ngôn ngữ</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C, C++, Fortran</a:t>
                      </a:r>
                    </a:p>
                  </a:txBody>
                  <a:tcPr anchor="ctr" marL="63500" marR="63500" marT="25400" marB="25400">
                    <a:lnL>
                      <a:noFill/>
                    </a:lnL>
                    <a:lnR>
                      <a:noFill/>
                    </a:lnR>
                    <a:lnT>
                      <a:noFill/>
                    </a:lnT>
                    <a:lnB>
                      <a:noFill/>
                    </a:lnB>
                    <a:noFill/>
                  </a:tcPr>
                </a:tc>
              </a:tr>
              <a:tr h="582843">
                <a:tc>
                  <a:txBody>
                    <a:bodyPr/>
                    <a:lstStyle/>
                    <a:p>
                      <a:pPr algn="l"/>
                      <a:r>
                        <a:rPr b="0" sz="1425" i="0" u="none">
                          <a:solidFill>
                            <a:srgbClr val="334155"/>
                          </a:solidFill>
                          <a:latin typeface="DM Sans"/>
                        </a:rPr>
                        <a:t>Phạm vi</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Web/Client-Server</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Microservices</a:t>
                      </a:r>
                    </a:p>
                  </a:txBody>
                  <a:tcPr anchor="ctr" marL="63500" marR="63500" marT="25400" marB="25400">
                    <a:lnL>
                      <a:noFill/>
                    </a:lnL>
                    <a:lnR>
                      <a:noFill/>
                    </a:lnR>
                    <a:lnT>
                      <a:noFill/>
                    </a:lnT>
                    <a:lnB>
                      <a:noFill/>
                    </a:lnB>
                    <a:noFill/>
                  </a:tcPr>
                </a:tc>
                <a:tc>
                  <a:txBody>
                    <a:bodyPr/>
                    <a:lstStyle/>
                    <a:p>
                      <a:pPr algn="l"/>
                      <a:r>
                        <a:rPr b="0" sz="1425" i="0" u="none">
                          <a:solidFill>
                            <a:srgbClr val="334155"/>
                          </a:solidFill>
                          <a:latin typeface="DM Sans"/>
                        </a:rPr>
                        <a:t>Hệ thống song song</a:t>
                      </a:r>
                    </a:p>
                  </a:txBody>
                  <a:tcPr anchor="ctr" marL="63500" marR="63500" marT="25400" marB="25400">
                    <a:lnL>
                      <a:noFill/>
                    </a:lnL>
                    <a:lnR>
                      <a:noFill/>
                    </a:lnR>
                    <a:lnT>
                      <a:noFill/>
                    </a:lnT>
                    <a:lnB>
                      <a:noFill/>
                    </a:lnB>
                    <a:noFill/>
                  </a:tcPr>
                </a:tc>
              </a:tr>
            </a:tbl>
          </a:graphicData>
        </a:graphic>
      </p:graphicFrame>
      <p:sp>
        <p:nvSpPr>
          <p:cNvPr id="4" name="Rectangle 3"/>
          <p:cNvSpPr/>
          <p:nvPr/>
        </p:nvSpPr>
        <p:spPr>
          <a:xfrm>
            <a:off x="571500" y="3617565"/>
            <a:ext cx="25903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61853" y="3617565"/>
            <a:ext cx="29398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01655" y="3617565"/>
            <a:ext cx="24599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61635" y="3617565"/>
            <a:ext cx="30588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4202310"/>
            <a:ext cx="25903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161853" y="4202310"/>
            <a:ext cx="29398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01655" y="4202310"/>
            <a:ext cx="24599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61635" y="4202310"/>
            <a:ext cx="30588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4787056"/>
            <a:ext cx="25903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61853" y="4787056"/>
            <a:ext cx="29398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01655" y="4787056"/>
            <a:ext cx="24599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61635" y="4787056"/>
            <a:ext cx="30588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1500" y="5371802"/>
            <a:ext cx="25903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61853" y="5371802"/>
            <a:ext cx="293980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01655" y="5371802"/>
            <a:ext cx="24599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61635" y="5371802"/>
            <a:ext cx="305886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So Sánh Công Nghệ</a:t>
            </a:r>
          </a:p>
        </p:txBody>
      </p:sp>
      <p:sp>
        <p:nvSpPr>
          <p:cNvPr id="21" name="Rectangle 20"/>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381125"/>
            <a:ext cx="11049000" cy="4905375"/>
          </a:xfrm>
          <a:prstGeom prst="rect">
            <a:avLst/>
          </a:prstGeom>
        </p:spPr>
      </p:pic>
      <p:sp>
        <p:nvSpPr>
          <p:cNvPr id="4" name="TextBox 3"/>
          <p:cNvSpPr txBox="1"/>
          <p:nvPr/>
        </p:nvSpPr>
        <p:spPr>
          <a:xfrm>
            <a:off x="571500" y="4789140"/>
            <a:ext cx="11049000" cy="289470"/>
          </a:xfrm>
          <a:prstGeom prst="rect">
            <a:avLst/>
          </a:prstGeom>
          <a:noFill/>
        </p:spPr>
        <p:txBody>
          <a:bodyPr wrap="square" lIns="0" rIns="0" tIns="0" bIns="0" anchor="t">
            <a:spAutoFit/>
          </a:bodyPr>
          <a:lstStyle/>
          <a:p>
            <a:pPr algn="ctr">
              <a:lnSpc>
                <a:spcPts val="2279"/>
              </a:lnSpc>
            </a:pPr>
            <a:r>
              <a:rPr b="0" sz="1425" i="1" u="none">
                <a:solidFill>
                  <a:srgbClr val="334155"/>
                </a:solidFill>
                <a:latin typeface="DM Sans"/>
              </a:rPr>
              <a:t>Thông số đo lường cho thấy khả năng mở rộng (Scalability) của hệ thống gần như tuyến tính khi tăng số lượng node.</a:t>
            </a:r>
          </a:p>
        </p:txBody>
      </p:sp>
      <p:sp>
        <p:nvSpPr>
          <p:cNvPr id="5" name="TextBox 4"/>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Đánh Giá Hiệu Năng</a:t>
            </a:r>
          </a:p>
        </p:txBody>
      </p:sp>
      <p:sp>
        <p:nvSpPr>
          <p:cNvPr id="6" name="Rectangle 5"/>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381125"/>
            <a:ext cx="11049000" cy="4905375"/>
          </a:xfrm>
          <a:prstGeom prst="rect">
            <a:avLst/>
          </a:prstGeom>
        </p:spPr>
      </p:pic>
      <p:sp>
        <p:nvSpPr>
          <p:cNvPr id="4" name="TextBox 3"/>
          <p:cNvSpPr txBox="1"/>
          <p:nvPr/>
        </p:nvSpPr>
        <p:spPr>
          <a:xfrm>
            <a:off x="571500" y="5355877"/>
            <a:ext cx="11049000" cy="289470"/>
          </a:xfrm>
          <a:prstGeom prst="rect">
            <a:avLst/>
          </a:prstGeom>
          <a:noFill/>
        </p:spPr>
        <p:txBody>
          <a:bodyPr wrap="square" lIns="0" rIns="0" tIns="0" bIns="0" anchor="t">
            <a:spAutoFit/>
          </a:bodyPr>
          <a:lstStyle/>
          <a:p>
            <a:pPr algn="ctr">
              <a:lnSpc>
                <a:spcPts val="2279"/>
              </a:lnSpc>
            </a:pPr>
            <a:r>
              <a:rPr b="0" sz="1425" i="0" u="none">
                <a:solidFill>
                  <a:srgbClr val="64748B"/>
                </a:solidFill>
                <a:latin typeface="DM Sans"/>
              </a:rPr>
              <a:t>Độ trễ hệ thống tăng nhẹ theo tải nhưng vẫn nằm trong ngưỡng kiểm soát (dưới 150ms).</a:t>
            </a:r>
          </a:p>
        </p:txBody>
      </p:sp>
      <p:sp>
        <p:nvSpPr>
          <p:cNvPr id="5" name="TextBox 4"/>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Xu Hướng Độ Trễ (Latency)</a:t>
            </a:r>
          </a:p>
        </p:txBody>
      </p:sp>
      <p:sp>
        <p:nvSpPr>
          <p:cNvPr id="6" name="Rectangle 5"/>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571500"/>
            <a:ext cx="11049000" cy="5715000"/>
          </a:xfrm>
          <a:prstGeom prst="rect">
            <a:avLst/>
          </a:prstGeom>
        </p:spPr>
      </p:pic>
      <p:sp>
        <p:nvSpPr>
          <p:cNvPr id="4" name="TextBox 3"/>
          <p:cNvSpPr txBox="1"/>
          <p:nvPr/>
        </p:nvSpPr>
        <p:spPr>
          <a:xfrm>
            <a:off x="4833937" y="2294632"/>
            <a:ext cx="2650331" cy="714375"/>
          </a:xfrm>
          <a:prstGeom prst="rect">
            <a:avLst/>
          </a:prstGeom>
          <a:noFill/>
        </p:spPr>
        <p:txBody>
          <a:bodyPr wrap="square" lIns="0" rIns="0" tIns="0" bIns="0" anchor="t">
            <a:spAutoFit/>
          </a:bodyPr>
          <a:lstStyle/>
          <a:p>
            <a:pPr algn="l"/>
            <a:r>
              <a:rPr b="1" sz="4500" i="0" u="none">
                <a:solidFill>
                  <a:srgbClr val="FFFFFF"/>
                </a:solidFill>
                <a:latin typeface="Merriweather"/>
              </a:rPr>
              <a:t>Kết Luận</a:t>
            </a:r>
          </a:p>
        </p:txBody>
      </p:sp>
      <p:sp>
        <p:nvSpPr>
          <p:cNvPr id="5" name="TextBox 4"/>
          <p:cNvSpPr txBox="1"/>
          <p:nvPr/>
        </p:nvSpPr>
        <p:spPr>
          <a:xfrm>
            <a:off x="2286000" y="3237607"/>
            <a:ext cx="7620000" cy="1097012"/>
          </a:xfrm>
          <a:prstGeom prst="rect">
            <a:avLst/>
          </a:prstGeom>
          <a:noFill/>
        </p:spPr>
        <p:txBody>
          <a:bodyPr wrap="square" lIns="0" rIns="0" tIns="0" bIns="0" anchor="t">
            <a:spAutoFit/>
          </a:bodyPr>
          <a:lstStyle/>
          <a:p>
            <a:pPr algn="ctr">
              <a:lnSpc>
                <a:spcPts val="2879"/>
              </a:lnSpc>
            </a:pPr>
            <a:r>
              <a:rPr b="0" sz="1800" i="0" u="none">
                <a:solidFill>
                  <a:srgbClr val="334155"/>
                </a:solidFill>
                <a:latin typeface="DM Sans"/>
              </a:rPr>
              <a:t>Đồ án đã hoàn thành việc xây dựng mô hình tính toán phân bố ổn định, đạt hiệu suất cao. Hướng phát triển tương lai sẽ tập trung vào việc áp dụng AI để tối ưu hóa việc điều phối tài nguyên tự động.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115752" y="2029717"/>
            <a:ext cx="3960495" cy="962025"/>
          </a:xfrm>
          <a:prstGeom prst="rect">
            <a:avLst/>
          </a:prstGeom>
          <a:noFill/>
        </p:spPr>
        <p:txBody>
          <a:bodyPr wrap="square" lIns="0" rIns="0" tIns="0" bIns="0" anchor="t">
            <a:spAutoFit/>
          </a:bodyPr>
          <a:lstStyle/>
          <a:p>
            <a:pPr algn="ctr"/>
            <a:r>
              <a:rPr b="1" sz="6000" i="0" u="none">
                <a:solidFill>
                  <a:srgbClr val="1E3A8A"/>
                </a:solidFill>
                <a:latin typeface="Merriweather"/>
              </a:rPr>
              <a:t>Hỏi &amp; Đáp</a:t>
            </a:r>
          </a:p>
        </p:txBody>
      </p:sp>
      <p:sp>
        <p:nvSpPr>
          <p:cNvPr id="4" name="TextBox 3"/>
          <p:cNvSpPr txBox="1"/>
          <p:nvPr/>
        </p:nvSpPr>
        <p:spPr>
          <a:xfrm>
            <a:off x="3297287" y="3258442"/>
            <a:ext cx="5597425" cy="426690"/>
          </a:xfrm>
          <a:prstGeom prst="rect">
            <a:avLst/>
          </a:prstGeom>
          <a:noFill/>
        </p:spPr>
        <p:txBody>
          <a:bodyPr wrap="square" lIns="0" rIns="0" tIns="0" bIns="0" anchor="t">
            <a:spAutoFit/>
          </a:bodyPr>
          <a:lstStyle/>
          <a:p>
            <a:pPr algn="ctr">
              <a:lnSpc>
                <a:spcPts val="3359"/>
              </a:lnSpc>
            </a:pPr>
            <a:r>
              <a:rPr b="0" sz="2100" i="0" u="none">
                <a:solidFill>
                  <a:srgbClr val="64748B"/>
                </a:solidFill>
                <a:latin typeface="DM Sans"/>
              </a:rPr>
              <a:t>Xin cảm ơn Thầy/Cô và các bạn đã lắng nghe!</a:t>
            </a:r>
          </a:p>
        </p:txBody>
      </p:sp>
      <p:pic>
        <p:nvPicPr>
          <p:cNvPr id="5" name="Picture 4" descr="image.png"/>
          <p:cNvPicPr>
            <a:picLocks noChangeAspect="1"/>
          </p:cNvPicPr>
          <p:nvPr/>
        </p:nvPicPr>
        <p:blipFill>
          <a:blip r:embed="rId3"/>
          <a:stretch>
            <a:fillRect/>
          </a:stretch>
        </p:blipFill>
        <p:spPr>
          <a:xfrm>
            <a:off x="5857875" y="4380458"/>
            <a:ext cx="476250" cy="381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2463254"/>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3248025"/>
            <a:ext cx="1104900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323850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323850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1500" y="422136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422136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571500" y="2612677"/>
            <a:ext cx="857250" cy="476250"/>
          </a:xfrm>
          <a:prstGeom prst="rect">
            <a:avLst/>
          </a:prstGeom>
        </p:spPr>
      </p:pic>
      <p:sp>
        <p:nvSpPr>
          <p:cNvPr id="10" name="TextBox 9"/>
          <p:cNvSpPr txBox="1"/>
          <p:nvPr/>
        </p:nvSpPr>
        <p:spPr>
          <a:xfrm>
            <a:off x="1666875" y="2606129"/>
            <a:ext cx="9953625" cy="198090"/>
          </a:xfrm>
          <a:prstGeom prst="rect">
            <a:avLst/>
          </a:prstGeom>
          <a:noFill/>
        </p:spPr>
        <p:txBody>
          <a:bodyPr wrap="square" lIns="0" rIns="0" tIns="0" bIns="0" anchor="t">
            <a:spAutoFit/>
          </a:bodyPr>
          <a:lstStyle/>
          <a:p>
            <a:pPr algn="l">
              <a:lnSpc>
                <a:spcPts val="1560"/>
              </a:lnSpc>
            </a:pPr>
            <a:r>
              <a:rPr b="0" sz="975" i="0" u="none">
                <a:solidFill>
                  <a:srgbClr val="334155"/>
                </a:solidFill>
                <a:latin typeface="DM Sans"/>
              </a:rPr>
              <a:t>https://static.vecteezy.com/system/resources/previews/065/410/605/non_2x/flat-design-network-servers-connecting-to-central-hub-on-white-vector.jpg</a:t>
            </a:r>
          </a:p>
        </p:txBody>
      </p:sp>
      <p:sp>
        <p:nvSpPr>
          <p:cNvPr id="11" name="TextBox 10"/>
          <p:cNvSpPr txBox="1"/>
          <p:nvPr/>
        </p:nvSpPr>
        <p:spPr>
          <a:xfrm>
            <a:off x="1666875" y="2851844"/>
            <a:ext cx="9953625" cy="243780"/>
          </a:xfrm>
          <a:prstGeom prst="rect">
            <a:avLst/>
          </a:prstGeom>
          <a:noFill/>
        </p:spPr>
        <p:txBody>
          <a:bodyPr wrap="square" lIns="0" rIns="0" tIns="0" bIns="0" anchor="t">
            <a:spAutoFit/>
          </a:bodyPr>
          <a:lstStyle/>
          <a:p>
            <a:pPr algn="l">
              <a:lnSpc>
                <a:spcPts val="1920"/>
              </a:lnSpc>
            </a:pPr>
            <a:r>
              <a:rPr b="0" sz="1200" i="0" u="none">
                <a:solidFill>
                  <a:srgbClr val="334155"/>
                </a:solidFill>
                <a:latin typeface="DM Sans"/>
              </a:rPr>
              <a:t>Source: </a:t>
            </a:r>
            <a:r>
              <a:rPr b="0" sz="1200" i="0" u="none">
                <a:solidFill>
                  <a:srgbClr val="4F46E5"/>
                </a:solidFill>
                <a:latin typeface="DM Sans"/>
              </a:rPr>
              <a:t>www.vecteezy.com</a:t>
            </a:r>
          </a:p>
        </p:txBody>
      </p:sp>
      <p:pic>
        <p:nvPicPr>
          <p:cNvPr id="12" name="Picture 11" descr="image.png"/>
          <p:cNvPicPr>
            <a:picLocks noChangeAspect="1"/>
          </p:cNvPicPr>
          <p:nvPr/>
        </p:nvPicPr>
        <p:blipFill>
          <a:blip r:embed="rId4"/>
          <a:stretch>
            <a:fillRect/>
          </a:stretch>
        </p:blipFill>
        <p:spPr>
          <a:xfrm>
            <a:off x="571500" y="3496567"/>
            <a:ext cx="857250" cy="476250"/>
          </a:xfrm>
          <a:prstGeom prst="rect">
            <a:avLst/>
          </a:prstGeom>
        </p:spPr>
      </p:pic>
      <p:sp>
        <p:nvSpPr>
          <p:cNvPr id="13" name="TextBox 12"/>
          <p:cNvSpPr txBox="1"/>
          <p:nvPr/>
        </p:nvSpPr>
        <p:spPr>
          <a:xfrm>
            <a:off x="1666875" y="3390900"/>
            <a:ext cx="9953625" cy="396180"/>
          </a:xfrm>
          <a:prstGeom prst="rect">
            <a:avLst/>
          </a:prstGeom>
          <a:noFill/>
        </p:spPr>
        <p:txBody>
          <a:bodyPr wrap="square" lIns="0" rIns="0" tIns="0" bIns="0" anchor="t">
            <a:spAutoFit/>
          </a:bodyPr>
          <a:lstStyle/>
          <a:p>
            <a:pPr algn="l">
              <a:lnSpc>
                <a:spcPts val="1560"/>
              </a:lnSpc>
            </a:pPr>
            <a:r>
              <a:rPr b="0" sz="975" i="0" u="none">
                <a:solidFill>
                  <a:srgbClr val="334155"/>
                </a:solidFill>
                <a:latin typeface="DM Sans"/>
              </a:rPr>
              <a:t>https://cdn.cloudairy.com/blog/1772699516619The%20Ultimate%20Guide%20to%20System%20Architecture%20Diagrams_%20Understanding%20Layers,%20Protocols,%20and%20Design%20Flows.webp</a:t>
            </a:r>
          </a:p>
        </p:txBody>
      </p:sp>
      <p:sp>
        <p:nvSpPr>
          <p:cNvPr id="14" name="TextBox 13"/>
          <p:cNvSpPr txBox="1"/>
          <p:nvPr/>
        </p:nvSpPr>
        <p:spPr>
          <a:xfrm>
            <a:off x="1666875" y="3834705"/>
            <a:ext cx="9953625" cy="243780"/>
          </a:xfrm>
          <a:prstGeom prst="rect">
            <a:avLst/>
          </a:prstGeom>
          <a:noFill/>
        </p:spPr>
        <p:txBody>
          <a:bodyPr wrap="square" lIns="0" rIns="0" tIns="0" bIns="0" anchor="t">
            <a:spAutoFit/>
          </a:bodyPr>
          <a:lstStyle/>
          <a:p>
            <a:pPr algn="l">
              <a:lnSpc>
                <a:spcPts val="1920"/>
              </a:lnSpc>
            </a:pPr>
            <a:r>
              <a:rPr b="0" sz="1200" i="0" u="none">
                <a:solidFill>
                  <a:srgbClr val="334155"/>
                </a:solidFill>
                <a:latin typeface="DM Sans"/>
              </a:rPr>
              <a:t>Source: </a:t>
            </a:r>
            <a:r>
              <a:rPr b="0" sz="1200" i="0" u="none">
                <a:solidFill>
                  <a:srgbClr val="4F46E5"/>
                </a:solidFill>
                <a:latin typeface="DM Sans"/>
              </a:rPr>
              <a:t>cloudairy.com</a:t>
            </a:r>
          </a:p>
        </p:txBody>
      </p:sp>
      <p:pic>
        <p:nvPicPr>
          <p:cNvPr id="15" name="Picture 14" descr="image.png"/>
          <p:cNvPicPr>
            <a:picLocks noChangeAspect="1"/>
          </p:cNvPicPr>
          <p:nvPr/>
        </p:nvPicPr>
        <p:blipFill>
          <a:blip r:embed="rId5"/>
          <a:stretch>
            <a:fillRect/>
          </a:stretch>
        </p:blipFill>
        <p:spPr>
          <a:xfrm>
            <a:off x="571500" y="4479428"/>
            <a:ext cx="857250" cy="476250"/>
          </a:xfrm>
          <a:prstGeom prst="rect">
            <a:avLst/>
          </a:prstGeom>
        </p:spPr>
      </p:pic>
      <p:sp>
        <p:nvSpPr>
          <p:cNvPr id="16" name="TextBox 15"/>
          <p:cNvSpPr txBox="1"/>
          <p:nvPr/>
        </p:nvSpPr>
        <p:spPr>
          <a:xfrm>
            <a:off x="1666875" y="4373760"/>
            <a:ext cx="9953625" cy="396180"/>
          </a:xfrm>
          <a:prstGeom prst="rect">
            <a:avLst/>
          </a:prstGeom>
          <a:noFill/>
        </p:spPr>
        <p:txBody>
          <a:bodyPr wrap="square" lIns="0" rIns="0" tIns="0" bIns="0" anchor="t">
            <a:spAutoFit/>
          </a:bodyPr>
          <a:lstStyle/>
          <a:p>
            <a:pPr algn="l">
              <a:lnSpc>
                <a:spcPts val="1560"/>
              </a:lnSpc>
            </a:pPr>
            <a:r>
              <a:rPr b="0" sz="975" i="0" u="none">
                <a:solidFill>
                  <a:srgbClr val="334155"/>
                </a:solidFill>
                <a:latin typeface="DM Sans"/>
              </a:rPr>
              <a:t>https://static.vecteezy.com/system/resources/previews/072/311/179/large_2x/futuristic-global-network-connection-digital-globe-with-circuitry-and-target-symbol-on-dark-blue-background-photo.jpg</a:t>
            </a:r>
          </a:p>
        </p:txBody>
      </p:sp>
      <p:sp>
        <p:nvSpPr>
          <p:cNvPr id="17" name="TextBox 16"/>
          <p:cNvSpPr txBox="1"/>
          <p:nvPr/>
        </p:nvSpPr>
        <p:spPr>
          <a:xfrm>
            <a:off x="1666875" y="4817566"/>
            <a:ext cx="9953625" cy="243780"/>
          </a:xfrm>
          <a:prstGeom prst="rect">
            <a:avLst/>
          </a:prstGeom>
          <a:noFill/>
        </p:spPr>
        <p:txBody>
          <a:bodyPr wrap="square" lIns="0" rIns="0" tIns="0" bIns="0" anchor="t">
            <a:spAutoFit/>
          </a:bodyPr>
          <a:lstStyle/>
          <a:p>
            <a:pPr algn="l">
              <a:lnSpc>
                <a:spcPts val="1920"/>
              </a:lnSpc>
            </a:pPr>
            <a:r>
              <a:rPr b="0" sz="1200" i="0" u="none">
                <a:solidFill>
                  <a:srgbClr val="334155"/>
                </a:solidFill>
                <a:latin typeface="DM Sans"/>
              </a:rPr>
              <a:t>Source: </a:t>
            </a:r>
            <a:r>
              <a:rPr b="0" sz="1200" i="0" u="none">
                <a:solidFill>
                  <a:srgbClr val="4F46E5"/>
                </a:solidFill>
                <a:latin typeface="DM Sans"/>
              </a:rPr>
              <a:t>www.vecteezy.com</a:t>
            </a:r>
          </a:p>
        </p:txBody>
      </p:sp>
      <p:sp>
        <p:nvSpPr>
          <p:cNvPr id="18" name="TextBox 17"/>
          <p:cNvSpPr txBox="1"/>
          <p:nvPr/>
        </p:nvSpPr>
        <p:spPr>
          <a:xfrm>
            <a:off x="762000" y="571500"/>
            <a:ext cx="11401425" cy="523875"/>
          </a:xfrm>
          <a:prstGeom prst="rect">
            <a:avLst/>
          </a:prstGeom>
          <a:noFill/>
        </p:spPr>
        <p:txBody>
          <a:bodyPr wrap="square" lIns="0" rIns="0" tIns="0" bIns="0" anchor="t">
            <a:spAutoFit/>
          </a:bodyPr>
          <a:lstStyle/>
          <a:p>
            <a:pPr algn="l"/>
            <a:r>
              <a:rPr b="1" sz="3300" i="0" u="none">
                <a:solidFill>
                  <a:srgbClr val="0F172A"/>
                </a:solidFill>
                <a:latin typeface="Merriweather"/>
              </a:rPr>
              <a:t>Image Sources</a:t>
            </a:r>
          </a:p>
        </p:txBody>
      </p:sp>
      <p:sp>
        <p:nvSpPr>
          <p:cNvPr id="19" name="Rectangle 18"/>
          <p:cNvSpPr/>
          <p:nvPr/>
        </p:nvSpPr>
        <p:spPr>
          <a:xfrm>
            <a:off x="571500" y="571500"/>
            <a:ext cx="76200" cy="5238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